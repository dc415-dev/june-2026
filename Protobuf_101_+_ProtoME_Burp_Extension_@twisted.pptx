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4C856A-BBC7-40F0-B972-60E4DFBA030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D418CA-02C2-439D-8794-A6BCA6F988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4D5FBB-5E80-4866-A6B5-24F97D1087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4829E7-0C9D-49D0-B053-427F34D0B0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F33626-5F3C-4FC9-A888-379C5992C1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955368-18C8-4478-9D64-DCA4C77F55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264315-0E61-42CA-84FF-C501253D2C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B410FB-1070-4A69-BBBC-7DCD93CD94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A0A744-5A83-4374-919A-0727B76BFA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C55B87-C1B4-4D71-A32D-DC9294E395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93F25D-23FA-4A11-88D0-8AB6AF22FE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49BDFD-4B5E-42D3-A0EA-4274234907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79E8F4-1631-4113-8F59-48D1EBD171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365760" y="457200"/>
            <a:ext cx="114278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530"/>
                </a:solidFill>
                <a:effectLst/>
                <a:uFillTx/>
                <a:latin typeface="Consolas"/>
                <a:ea typeface="Consolas"/>
              </a:rPr>
              <a:t>0a 13 08 96 01 12 05 41 6c 69 63 65 18 01 2a 0c 08 ac 02 12 07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365760" y="6035040"/>
            <a:ext cx="114278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530"/>
                </a:solidFill>
                <a:effectLst/>
                <a:uFillTx/>
                <a:latin typeface="Consolas"/>
                <a:ea typeface="Consolas"/>
              </a:rPr>
              <a:t>12 04 6d 61 69 6c 1a 06 73 65 63 75 72 65 22 02 ff 7f 28 2d 30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0" y="2743200"/>
            <a:ext cx="162360" cy="15523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02920" y="2606040"/>
            <a:ext cx="1097064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PROTOBUF</a:t>
            </a:r>
            <a:r>
              <a:rPr lang="en-US" sz="5400" b="1" u="none" strike="noStrike">
                <a:solidFill>
                  <a:srgbClr val="2DD4BF"/>
                </a:solidFill>
                <a:effectLst/>
                <a:uFillTx/>
                <a:latin typeface="Arial Black"/>
                <a:ea typeface="Arial Black"/>
              </a:rPr>
              <a:t> </a:t>
            </a: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TRAFFIC</a:t>
            </a:r>
            <a:r>
              <a:rPr lang="en-US" sz="5400" b="1" u="none" strike="noStrike">
                <a:solidFill>
                  <a:srgbClr val="2DD4BF"/>
                </a:solidFill>
                <a:effectLst/>
                <a:uFillTx/>
                <a:latin typeface="Arial Black"/>
                <a:ea typeface="Arial Black"/>
              </a:rPr>
              <a:t> + ProtoME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3611880"/>
            <a:ext cx="10056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 field guide to Protocol Buffers on the wire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4343400"/>
            <a:ext cx="1186560" cy="36360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PROTOME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874520" y="4343400"/>
            <a:ext cx="7313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Cambria"/>
                <a:ea typeface="Consolas"/>
              </a:rPr>
              <a:t>The 101 + Burp Suite extension demo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$ Whoami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Ron Twist · OSCP/CRTO · 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0292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502920" y="160020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73152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Role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73152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Sole developer &amp; maintainer of ProtoME — a Burp Suite extension for dynamic pentesting of protobuf HTTP(S) traffic.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617220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6172200" y="1600200"/>
            <a:ext cx="61920" cy="13237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640080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Why I built 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640080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Kept hitting protobuf payloads on engagements with no good editor in the loop. Manual varint surgery doesn't scale.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50292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/>
          <p:cNvSpPr/>
          <p:nvPr/>
        </p:nvSpPr>
        <p:spPr>
          <a:xfrm>
            <a:off x="502920" y="312732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73152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Talk plan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73152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Part 1: Protobuf on the wire.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Part 2: ProtoME — how it closes the testing gap.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617220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6172200" y="312732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640080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Where to find me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640080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DC415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Linkedin.com/ron-twist/</a:t>
            </a:r>
            <a:br>
              <a:rPr sz="1200"/>
            </a:b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github.com/twisted007/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user@proto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:~$ cat agenda.txt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What we'll cover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02920" y="1417320"/>
            <a:ext cx="111535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Protocol Buffers — Google's binary serialization format — and ProtoME, the Burp extension that makes it testable. Here's the path.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502920" y="2194560"/>
            <a:ext cx="27410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502920" y="219456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667440" y="2304360"/>
            <a:ext cx="9122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667440" y="2697480"/>
            <a:ext cx="2466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History &amp; origins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667440" y="3017520"/>
            <a:ext cx="2421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Where protobuf came from and why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3410640" y="2194560"/>
            <a:ext cx="27410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3410640" y="219456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3575160" y="2304360"/>
            <a:ext cx="9122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3575160" y="2697480"/>
            <a:ext cx="2466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Where you'll see it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3575160" y="3017520"/>
            <a:ext cx="2421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gRPC, mobile, IoT, internal APIs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6318360" y="2194560"/>
            <a:ext cx="27410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6318360" y="219456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6483240" y="2304360"/>
            <a:ext cx="9122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6483240" y="2697480"/>
            <a:ext cx="2466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Protobuf vs JSON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6483240" y="3017520"/>
            <a:ext cx="2421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Binary schema vs self-describing text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8"/>
          <p:cNvSpPr/>
          <p:nvPr/>
        </p:nvSpPr>
        <p:spPr>
          <a:xfrm>
            <a:off x="9226440" y="2194560"/>
            <a:ext cx="27410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9"/>
          <p:cNvSpPr/>
          <p:nvPr/>
        </p:nvSpPr>
        <p:spPr>
          <a:xfrm>
            <a:off x="9226440" y="219456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9390960" y="2304360"/>
            <a:ext cx="9122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9390960" y="2697480"/>
            <a:ext cx="2466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Benefits &amp; constraints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9390960" y="3017520"/>
            <a:ext cx="2421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What you gain, what you give up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3"/>
          <p:cNvSpPr/>
          <p:nvPr/>
        </p:nvSpPr>
        <p:spPr>
          <a:xfrm>
            <a:off x="502920" y="3721680"/>
            <a:ext cx="27410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4"/>
          <p:cNvSpPr/>
          <p:nvPr/>
        </p:nvSpPr>
        <p:spPr>
          <a:xfrm>
            <a:off x="502920" y="372168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667440" y="3831480"/>
            <a:ext cx="9122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6"/>
          <p:cNvSpPr/>
          <p:nvPr/>
        </p:nvSpPr>
        <p:spPr>
          <a:xfrm>
            <a:off x="667440" y="4224600"/>
            <a:ext cx="2466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Data types &amp; .proto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667440" y="4544640"/>
            <a:ext cx="2421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The schema language and scalar types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8"/>
          <p:cNvSpPr/>
          <p:nvPr/>
        </p:nvSpPr>
        <p:spPr>
          <a:xfrm>
            <a:off x="3410640" y="3721680"/>
            <a:ext cx="27410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9"/>
          <p:cNvSpPr/>
          <p:nvPr/>
        </p:nvSpPr>
        <p:spPr>
          <a:xfrm>
            <a:off x="3410640" y="372168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0"/>
          <p:cNvSpPr/>
          <p:nvPr/>
        </p:nvSpPr>
        <p:spPr>
          <a:xfrm>
            <a:off x="3575160" y="3831480"/>
            <a:ext cx="9122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06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1"/>
          <p:cNvSpPr/>
          <p:nvPr/>
        </p:nvSpPr>
        <p:spPr>
          <a:xfrm>
            <a:off x="3575160" y="4224600"/>
            <a:ext cx="2466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On the wire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2"/>
          <p:cNvSpPr/>
          <p:nvPr/>
        </p:nvSpPr>
        <p:spPr>
          <a:xfrm>
            <a:off x="3575160" y="4544640"/>
            <a:ext cx="2421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Bytes, varints, tags, ZigZag, gRPC framing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3"/>
          <p:cNvSpPr/>
          <p:nvPr/>
        </p:nvSpPr>
        <p:spPr>
          <a:xfrm>
            <a:off x="6318360" y="3721680"/>
            <a:ext cx="27410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4"/>
          <p:cNvSpPr/>
          <p:nvPr/>
        </p:nvSpPr>
        <p:spPr>
          <a:xfrm>
            <a:off x="6318360" y="372168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5"/>
          <p:cNvSpPr/>
          <p:nvPr/>
        </p:nvSpPr>
        <p:spPr>
          <a:xfrm>
            <a:off x="6483240" y="3831480"/>
            <a:ext cx="9122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07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6"/>
          <p:cNvSpPr/>
          <p:nvPr/>
        </p:nvSpPr>
        <p:spPr>
          <a:xfrm>
            <a:off x="6483240" y="4224600"/>
            <a:ext cx="2466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Security &amp; pentest angle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7"/>
          <p:cNvSpPr/>
          <p:nvPr/>
        </p:nvSpPr>
        <p:spPr>
          <a:xfrm>
            <a:off x="6483240" y="4544640"/>
            <a:ext cx="2421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Why opaque binary matters to us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8"/>
          <p:cNvSpPr/>
          <p:nvPr/>
        </p:nvSpPr>
        <p:spPr>
          <a:xfrm>
            <a:off x="9226440" y="3721680"/>
            <a:ext cx="27410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9"/>
          <p:cNvSpPr/>
          <p:nvPr/>
        </p:nvSpPr>
        <p:spPr>
          <a:xfrm>
            <a:off x="9226440" y="372168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0"/>
          <p:cNvSpPr/>
          <p:nvPr/>
        </p:nvSpPr>
        <p:spPr>
          <a:xfrm>
            <a:off x="9390960" y="3831480"/>
            <a:ext cx="9122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08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1"/>
          <p:cNvSpPr/>
          <p:nvPr/>
        </p:nvSpPr>
        <p:spPr>
          <a:xfrm>
            <a:off x="9390960" y="4224600"/>
            <a:ext cx="2466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ProtoME: the demo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2"/>
          <p:cNvSpPr/>
          <p:nvPr/>
        </p:nvSpPr>
        <p:spPr>
          <a:xfrm>
            <a:off x="9390960" y="4544640"/>
            <a:ext cx="2421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Closing the tooling gap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user@proto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:~$ git log --reverse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A short history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822960" y="2011680"/>
            <a:ext cx="10515600" cy="360"/>
          </a:xfrm>
          <a:prstGeom prst="line">
            <a:avLst/>
          </a:prstGeom>
          <a:ln w="254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804600" y="1901880"/>
            <a:ext cx="217440" cy="21744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548640" y="1298520"/>
            <a:ext cx="1095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2001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5"/>
          <p:cNvSpPr/>
          <p:nvPr/>
        </p:nvSpPr>
        <p:spPr>
          <a:xfrm>
            <a:off x="502920" y="2331720"/>
            <a:ext cx="2009520" cy="310680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502920" y="2331720"/>
            <a:ext cx="2009520" cy="619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621720" y="2514600"/>
            <a:ext cx="17809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Proto1 — internal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621720" y="3337560"/>
            <a:ext cx="1780920" cy="20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Born inside Google as an efficient way to serialize structured data across services.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9"/>
          <p:cNvSpPr/>
          <p:nvPr/>
        </p:nvSpPr>
        <p:spPr>
          <a:xfrm>
            <a:off x="2962800" y="1901880"/>
            <a:ext cx="217440" cy="217440"/>
          </a:xfrm>
          <a:prstGeom prst="ellipse">
            <a:avLst/>
          </a:prstGeom>
          <a:solidFill>
            <a:srgbClr val="56D4DD"/>
          </a:solidFill>
          <a:ln w="254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2706480" y="1298520"/>
            <a:ext cx="1095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6D4DD"/>
                </a:solidFill>
                <a:effectLst/>
                <a:uFillTx/>
                <a:latin typeface="Consolas"/>
                <a:ea typeface="Consolas"/>
              </a:rPr>
              <a:t>2008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1"/>
          <p:cNvSpPr/>
          <p:nvPr/>
        </p:nvSpPr>
        <p:spPr>
          <a:xfrm>
            <a:off x="2660760" y="2331720"/>
            <a:ext cx="2009520" cy="310680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2"/>
          <p:cNvSpPr/>
          <p:nvPr/>
        </p:nvSpPr>
        <p:spPr>
          <a:xfrm>
            <a:off x="2660760" y="2331720"/>
            <a:ext cx="2009520" cy="61920"/>
          </a:xfrm>
          <a:prstGeom prst="rect">
            <a:avLst/>
          </a:prstGeom>
          <a:solidFill>
            <a:srgbClr val="56D4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2779920" y="2514600"/>
            <a:ext cx="17809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Open-sourced (Proto2)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2779920" y="3337560"/>
            <a:ext cx="1780920" cy="20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Released publicly July 7, 2008 with C++, Java &amp; Python. Introduced required / optional / repeated.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5"/>
          <p:cNvSpPr/>
          <p:nvPr/>
        </p:nvSpPr>
        <p:spPr>
          <a:xfrm>
            <a:off x="5120640" y="1901880"/>
            <a:ext cx="217440" cy="217440"/>
          </a:xfrm>
          <a:prstGeom prst="ellipse">
            <a:avLst/>
          </a:prstGeom>
          <a:solidFill>
            <a:srgbClr val="BC8CFF"/>
          </a:solidFill>
          <a:ln w="254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4864680" y="1298520"/>
            <a:ext cx="1095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BC8CFF"/>
                </a:solidFill>
                <a:effectLst/>
                <a:uFillTx/>
                <a:latin typeface="Consolas"/>
                <a:ea typeface="Consolas"/>
              </a:rPr>
              <a:t>2015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7"/>
          <p:cNvSpPr/>
          <p:nvPr/>
        </p:nvSpPr>
        <p:spPr>
          <a:xfrm>
            <a:off x="4818960" y="2331720"/>
            <a:ext cx="2009520" cy="310680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8"/>
          <p:cNvSpPr/>
          <p:nvPr/>
        </p:nvSpPr>
        <p:spPr>
          <a:xfrm>
            <a:off x="4818960" y="2331720"/>
            <a:ext cx="2009520" cy="61920"/>
          </a:xfrm>
          <a:prstGeom prst="rect">
            <a:avLst/>
          </a:prstGeom>
          <a:solidFill>
            <a:srgbClr val="BC8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4937760" y="2514600"/>
            <a:ext cx="17809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gRPC arrives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4937760" y="3337560"/>
            <a:ext cx="1780920" cy="20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Google ships gRPC, an RPC framework built on protobuf — the main reason you see it on the wire.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1"/>
          <p:cNvSpPr/>
          <p:nvPr/>
        </p:nvSpPr>
        <p:spPr>
          <a:xfrm>
            <a:off x="7278480" y="1901880"/>
            <a:ext cx="217440" cy="217440"/>
          </a:xfrm>
          <a:prstGeom prst="ellipse">
            <a:avLst/>
          </a:prstGeom>
          <a:solidFill>
            <a:srgbClr val="E3B341"/>
          </a:solidFill>
          <a:ln w="254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2"/>
          <p:cNvSpPr/>
          <p:nvPr/>
        </p:nvSpPr>
        <p:spPr>
          <a:xfrm>
            <a:off x="7022520" y="1298520"/>
            <a:ext cx="1095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2016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3"/>
          <p:cNvSpPr/>
          <p:nvPr/>
        </p:nvSpPr>
        <p:spPr>
          <a:xfrm>
            <a:off x="6976800" y="2331720"/>
            <a:ext cx="2009520" cy="310680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4"/>
          <p:cNvSpPr/>
          <p:nvPr/>
        </p:nvSpPr>
        <p:spPr>
          <a:xfrm>
            <a:off x="6976800" y="2331720"/>
            <a:ext cx="2009520" cy="619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7095600" y="2514600"/>
            <a:ext cx="17809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Proto3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7095600" y="3337560"/>
            <a:ext cx="1780920" cy="20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Simplified syntax: dropped required, streamlined defaults and field presence for cross-language consistency.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7"/>
          <p:cNvSpPr/>
          <p:nvPr/>
        </p:nvSpPr>
        <p:spPr>
          <a:xfrm>
            <a:off x="9436680" y="1901880"/>
            <a:ext cx="217440" cy="217440"/>
          </a:xfrm>
          <a:prstGeom prst="ellipse">
            <a:avLst/>
          </a:prstGeom>
          <a:solidFill>
            <a:srgbClr val="3FB950"/>
          </a:solidFill>
          <a:ln w="254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8"/>
          <p:cNvSpPr/>
          <p:nvPr/>
        </p:nvSpPr>
        <p:spPr>
          <a:xfrm>
            <a:off x="9180720" y="1298520"/>
            <a:ext cx="1095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Now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9"/>
          <p:cNvSpPr/>
          <p:nvPr/>
        </p:nvSpPr>
        <p:spPr>
          <a:xfrm>
            <a:off x="9135000" y="2331720"/>
            <a:ext cx="2009520" cy="310680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0"/>
          <p:cNvSpPr/>
          <p:nvPr/>
        </p:nvSpPr>
        <p:spPr>
          <a:xfrm>
            <a:off x="9135000" y="2331720"/>
            <a:ext cx="2009520" cy="6192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1"/>
          <p:cNvSpPr/>
          <p:nvPr/>
        </p:nvSpPr>
        <p:spPr>
          <a:xfrm>
            <a:off x="9253800" y="2514600"/>
            <a:ext cx="17809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Editions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2"/>
          <p:cNvSpPr/>
          <p:nvPr/>
        </p:nvSpPr>
        <p:spPr>
          <a:xfrm>
            <a:off x="9253800" y="3337560"/>
            <a:ext cx="1780920" cy="20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Active dev (protoc v21+ versioning, 'editions' replacing the proto2/proto3 split). BSD-licensed.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3"/>
          <p:cNvSpPr/>
          <p:nvPr/>
        </p:nvSpPr>
        <p:spPr>
          <a:xfrm>
            <a:off x="502920" y="5989320"/>
            <a:ext cx="11153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E3B341"/>
                </a:solidFill>
                <a:effectLst/>
                <a:uFillTx/>
                <a:latin typeface="Calibri"/>
                <a:ea typeface="Calibri"/>
              </a:rPr>
              <a:t>No IETF RFC: protobuf is a Google-published spec (protobuf.dev), not a standards-track document. gRPC has formal specs; protobuf itself is a de-facto standard.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user@proto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:~$ grep -r protobuf /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Where you'll see it in the wild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502920" y="1600200"/>
            <a:ext cx="3609720" cy="17809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02920" y="1600200"/>
            <a:ext cx="3609720" cy="709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731520" y="1874520"/>
            <a:ext cx="455040" cy="455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731520" y="18745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&gt;_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1325880" y="1892880"/>
            <a:ext cx="2695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gRPC APIs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731520" y="2468880"/>
            <a:ext cx="31525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The big one. Microservice-to-microservice and increasingly public APIs ride gRPC over HTTP/2.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8"/>
          <p:cNvSpPr/>
          <p:nvPr/>
        </p:nvSpPr>
        <p:spPr>
          <a:xfrm>
            <a:off x="4297680" y="1600200"/>
            <a:ext cx="3609720" cy="17809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4297680" y="1600200"/>
            <a:ext cx="3609720" cy="70920"/>
          </a:xfrm>
          <a:prstGeom prst="rect">
            <a:avLst/>
          </a:prstGeom>
          <a:solidFill>
            <a:srgbClr val="56D4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4526280" y="1874520"/>
            <a:ext cx="455040" cy="455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56D4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4526280" y="18745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6D4DD"/>
                </a:solidFill>
                <a:effectLst/>
                <a:uFillTx/>
                <a:latin typeface="Consolas"/>
                <a:ea typeface="Consolas"/>
              </a:rPr>
              <a:t>&gt;_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5120640" y="1892880"/>
            <a:ext cx="2695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Mobile apps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4526280" y="2468880"/>
            <a:ext cx="31525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Android/iOS clients talk to backends in protobuf to save bandwidth and battery.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8092440" y="1600200"/>
            <a:ext cx="3609720" cy="17809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5"/>
          <p:cNvSpPr/>
          <p:nvPr/>
        </p:nvSpPr>
        <p:spPr>
          <a:xfrm>
            <a:off x="8092440" y="1600200"/>
            <a:ext cx="3609720" cy="70920"/>
          </a:xfrm>
          <a:prstGeom prst="rect">
            <a:avLst/>
          </a:prstGeom>
          <a:solidFill>
            <a:srgbClr val="BC8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6"/>
          <p:cNvSpPr/>
          <p:nvPr/>
        </p:nvSpPr>
        <p:spPr>
          <a:xfrm>
            <a:off x="8321040" y="1874520"/>
            <a:ext cx="455040" cy="455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8321040" y="18745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C8CFF"/>
                </a:solidFill>
                <a:effectLst/>
                <a:uFillTx/>
                <a:latin typeface="Consolas"/>
                <a:ea typeface="Consolas"/>
              </a:rPr>
              <a:t>&gt;_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8915400" y="1892880"/>
            <a:ext cx="2695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Google services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9"/>
          <p:cNvSpPr/>
          <p:nvPr/>
        </p:nvSpPr>
        <p:spPr>
          <a:xfrm>
            <a:off x="8321040" y="2468880"/>
            <a:ext cx="31525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Maps, Photos, Play and most internal Google RPC traffic.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0"/>
          <p:cNvSpPr/>
          <p:nvPr/>
        </p:nvSpPr>
        <p:spPr>
          <a:xfrm>
            <a:off x="502920" y="3611880"/>
            <a:ext cx="3609720" cy="17809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1"/>
          <p:cNvSpPr/>
          <p:nvPr/>
        </p:nvSpPr>
        <p:spPr>
          <a:xfrm>
            <a:off x="502920" y="3611880"/>
            <a:ext cx="3609720" cy="7092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2"/>
          <p:cNvSpPr/>
          <p:nvPr/>
        </p:nvSpPr>
        <p:spPr>
          <a:xfrm>
            <a:off x="731520" y="3886200"/>
            <a:ext cx="455040" cy="455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731520" y="388620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&gt;_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4"/>
          <p:cNvSpPr/>
          <p:nvPr/>
        </p:nvSpPr>
        <p:spPr>
          <a:xfrm>
            <a:off x="1325880" y="3904560"/>
            <a:ext cx="2695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IoT &amp; embedded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5"/>
          <p:cNvSpPr/>
          <p:nvPr/>
        </p:nvSpPr>
        <p:spPr>
          <a:xfrm>
            <a:off x="731520" y="4480560"/>
            <a:ext cx="31525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Constrained devices favor the compact, low-overhead format.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6"/>
          <p:cNvSpPr/>
          <p:nvPr/>
        </p:nvSpPr>
        <p:spPr>
          <a:xfrm>
            <a:off x="4297680" y="3611880"/>
            <a:ext cx="3609720" cy="17809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7"/>
          <p:cNvSpPr/>
          <p:nvPr/>
        </p:nvSpPr>
        <p:spPr>
          <a:xfrm>
            <a:off x="4297680" y="3611880"/>
            <a:ext cx="3609720" cy="709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8"/>
          <p:cNvSpPr/>
          <p:nvPr/>
        </p:nvSpPr>
        <p:spPr>
          <a:xfrm>
            <a:off x="4526280" y="3886200"/>
            <a:ext cx="455040" cy="455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9"/>
          <p:cNvSpPr/>
          <p:nvPr/>
        </p:nvSpPr>
        <p:spPr>
          <a:xfrm>
            <a:off x="4526280" y="388620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&gt;_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0"/>
          <p:cNvSpPr/>
          <p:nvPr/>
        </p:nvSpPr>
        <p:spPr>
          <a:xfrm>
            <a:off x="5120640" y="3904560"/>
            <a:ext cx="2695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Data pipelines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1"/>
          <p:cNvSpPr/>
          <p:nvPr/>
        </p:nvSpPr>
        <p:spPr>
          <a:xfrm>
            <a:off x="4526280" y="4480560"/>
            <a:ext cx="31525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Kafka, event streams and storage formats use protobuf schemas.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2"/>
          <p:cNvSpPr/>
          <p:nvPr/>
        </p:nvSpPr>
        <p:spPr>
          <a:xfrm>
            <a:off x="8092440" y="3611880"/>
            <a:ext cx="3609720" cy="17809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3"/>
          <p:cNvSpPr/>
          <p:nvPr/>
        </p:nvSpPr>
        <p:spPr>
          <a:xfrm>
            <a:off x="8092440" y="3611880"/>
            <a:ext cx="3609720" cy="709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4"/>
          <p:cNvSpPr/>
          <p:nvPr/>
        </p:nvSpPr>
        <p:spPr>
          <a:xfrm>
            <a:off x="8321040" y="3886200"/>
            <a:ext cx="455040" cy="455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5"/>
          <p:cNvSpPr/>
          <p:nvPr/>
        </p:nvSpPr>
        <p:spPr>
          <a:xfrm>
            <a:off x="8321040" y="388620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5149"/>
                </a:solidFill>
                <a:effectLst/>
                <a:uFillTx/>
                <a:latin typeface="Consolas"/>
                <a:ea typeface="Consolas"/>
              </a:rPr>
              <a:t>&gt;_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6"/>
          <p:cNvSpPr/>
          <p:nvPr/>
        </p:nvSpPr>
        <p:spPr>
          <a:xfrm>
            <a:off x="8915400" y="3904560"/>
            <a:ext cx="2695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Crypto &amp; fintech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7"/>
          <p:cNvSpPr/>
          <p:nvPr/>
        </p:nvSpPr>
        <p:spPr>
          <a:xfrm>
            <a:off x="8321040" y="4480560"/>
            <a:ext cx="31525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Trading APIs, wallets and exchanges for low-latency messaging.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user@proto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:~$ diff json protobuf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Protobuf vs JSON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502920" y="1508760"/>
            <a:ext cx="5484240" cy="2329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685800" y="1627560"/>
            <a:ext cx="2741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3B341"/>
                </a:solidFill>
                <a:effectLst/>
                <a:uFillTx/>
                <a:latin typeface="Arial Black"/>
                <a:ea typeface="Arial Black"/>
              </a:rPr>
              <a:t>JSON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2743200" y="1673280"/>
            <a:ext cx="3106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self-describing text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685800" y="2057400"/>
            <a:ext cx="5027040" cy="12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  "id": 1,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  "name": "Alice",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  "active": true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685800" y="340164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3B341"/>
                </a:solidFill>
                <a:effectLst/>
                <a:uFillTx/>
                <a:latin typeface="Calibri"/>
                <a:ea typeface="Calibri"/>
              </a:rPr>
              <a:t>≈ 42 bytes · keys travel with every message · human-readable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6172200" y="1508760"/>
            <a:ext cx="5484240" cy="2329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6355080" y="1627560"/>
            <a:ext cx="2741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D4BF"/>
                </a:solidFill>
                <a:effectLst/>
                <a:uFillTx/>
                <a:latin typeface="Arial Black"/>
                <a:ea typeface="Arial Black"/>
              </a:rPr>
              <a:t>PROTOBUF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8412480" y="1673280"/>
            <a:ext cx="3106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binary + external schema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6355080" y="2148840"/>
            <a:ext cx="51184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08 01 12 05 41 6c 69 63 65 18 01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6355080" y="2697480"/>
            <a:ext cx="511848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field numbers replace key names; types live in 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shared .proto schema, not in the payload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6355080" y="340164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DD4BF"/>
                </a:solidFill>
                <a:effectLst/>
                <a:uFillTx/>
                <a:latin typeface="Calibri"/>
                <a:ea typeface="Calibri"/>
              </a:rPr>
              <a:t>≈ 11 bytes · ~75% smaller · not human-readable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3" name="Table 0"/>
          <p:cNvGraphicFramePr/>
          <p:nvPr/>
        </p:nvGraphicFramePr>
        <p:xfrm>
          <a:off x="502920" y="4069080"/>
          <a:ext cx="11155320" cy="230256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4023360"/>
              </a:tblGrid>
              <a:tr h="383760">
                <a:tc>
                  <a:txBody>
                    <a:bodyPr lIns="50760" tIns="50760" rIns="50760" bIns="50760" anchor="ctr">
                      <a:noAutofit/>
                    </a:bodyPr>
                    <a:p>
                      <a:endParaRPr lang="en-US" sz="125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E3B34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JSON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DD4B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Protobuf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83760">
                <a:tc>
                  <a:txBody>
                    <a:bodyPr lIns="50760" tIns="50760" r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Encoding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UTF-8 text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Binary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F2630"/>
                    </a:solidFill>
                  </a:tcPr>
                </a:tc>
              </a:tr>
              <a:tr h="383760">
                <a:tc>
                  <a:txBody>
                    <a:bodyPr lIns="50760" tIns="50760" r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Schema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3181F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Optional / implicit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3181F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Required (.proto)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3181F"/>
                    </a:solidFill>
                  </a:tcPr>
                </a:tc>
              </a:tr>
              <a:tr h="383760">
                <a:tc>
                  <a:txBody>
                    <a:bodyPr lIns="50760" tIns="50760" r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Self-describing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Yes — keys in payload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 — needs the schema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F2630"/>
                    </a:solidFill>
                  </a:tcPr>
                </a:tc>
              </a:tr>
              <a:tr h="383760">
                <a:tc>
                  <a:txBody>
                    <a:bodyPr lIns="50760" tIns="50760" r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Size &amp; speed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3181F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Larger, slower parse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3181F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Compact, fast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3181F"/>
                    </a:solidFill>
                  </a:tcPr>
                </a:tc>
              </a:tr>
              <a:tr h="383760">
                <a:tc>
                  <a:txBody>
                    <a:bodyPr lIns="50760" tIns="50760" r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Readability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Human-readable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 lIns="50760" tIns="50760" r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Opaque bytes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30363D"/>
                      </a:solidFill>
                      <a:prstDash val="solid"/>
                    </a:lnL>
                    <a:lnR w="12240">
                      <a:solidFill>
                        <a:srgbClr val="30363D"/>
                      </a:solidFill>
                      <a:prstDash val="solid"/>
                    </a:lnR>
                    <a:lnT w="12240">
                      <a:solidFill>
                        <a:srgbClr val="30363D"/>
                      </a:solidFill>
                      <a:prstDash val="solid"/>
                    </a:lnT>
                    <a:lnB w="12240">
                      <a:solidFill>
                        <a:srgbClr val="30363D"/>
                      </a:solidFill>
                      <a:prstDash val="solid"/>
                    </a:lnB>
                    <a:solidFill>
                      <a:srgbClr val="1F263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user@proto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:~$ weigh tradeoffs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Benefits &amp; constraints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502920" y="1554480"/>
            <a:ext cx="5484240" cy="500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685800" y="1554480"/>
            <a:ext cx="511848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[+]  </a:t>
            </a: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BENEFITS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502920" y="2240280"/>
            <a:ext cx="5484240" cy="6562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502920" y="2240280"/>
            <a:ext cx="52560" cy="65628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685800" y="2295000"/>
            <a:ext cx="511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Compact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685800" y="2551320"/>
            <a:ext cx="5164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Binary encoding is typically 3–10x smaller than equivalent JSON.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8"/>
          <p:cNvSpPr/>
          <p:nvPr/>
        </p:nvSpPr>
        <p:spPr>
          <a:xfrm>
            <a:off x="502920" y="3008520"/>
            <a:ext cx="5484240" cy="6562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502920" y="3008520"/>
            <a:ext cx="52560" cy="65628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685800" y="3063240"/>
            <a:ext cx="511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Fast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685800" y="3319200"/>
            <a:ext cx="5164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Less to parse and serialize; numbers stay numbers, no string parsing.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502920" y="3776400"/>
            <a:ext cx="5484240" cy="6562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3"/>
          <p:cNvSpPr/>
          <p:nvPr/>
        </p:nvSpPr>
        <p:spPr>
          <a:xfrm>
            <a:off x="502920" y="3776400"/>
            <a:ext cx="52560" cy="65628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685800" y="3831480"/>
            <a:ext cx="511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Strongly typed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685800" y="4087440"/>
            <a:ext cx="5164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The schema enforces structure across every language.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6"/>
          <p:cNvSpPr/>
          <p:nvPr/>
        </p:nvSpPr>
        <p:spPr>
          <a:xfrm>
            <a:off x="502920" y="4544640"/>
            <a:ext cx="5484240" cy="6562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7"/>
          <p:cNvSpPr/>
          <p:nvPr/>
        </p:nvSpPr>
        <p:spPr>
          <a:xfrm>
            <a:off x="502920" y="4544640"/>
            <a:ext cx="52560" cy="65628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685800" y="4599360"/>
            <a:ext cx="511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Schema evolution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9"/>
          <p:cNvSpPr/>
          <p:nvPr/>
        </p:nvSpPr>
        <p:spPr>
          <a:xfrm>
            <a:off x="685800" y="4855320"/>
            <a:ext cx="5164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Add fields without breaking old clients; unknown fields are preserved.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0"/>
          <p:cNvSpPr/>
          <p:nvPr/>
        </p:nvSpPr>
        <p:spPr>
          <a:xfrm>
            <a:off x="502920" y="5312520"/>
            <a:ext cx="5484240" cy="6562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1"/>
          <p:cNvSpPr/>
          <p:nvPr/>
        </p:nvSpPr>
        <p:spPr>
          <a:xfrm>
            <a:off x="502920" y="5312520"/>
            <a:ext cx="52560" cy="65628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2"/>
          <p:cNvSpPr/>
          <p:nvPr/>
        </p:nvSpPr>
        <p:spPr>
          <a:xfrm>
            <a:off x="685800" y="5367600"/>
            <a:ext cx="511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Polyglot codegen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3"/>
          <p:cNvSpPr/>
          <p:nvPr/>
        </p:nvSpPr>
        <p:spPr>
          <a:xfrm>
            <a:off x="685800" y="5623560"/>
            <a:ext cx="5164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One .proto compiles to Go, Java, Python, C++, and more.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4"/>
          <p:cNvSpPr/>
          <p:nvPr/>
        </p:nvSpPr>
        <p:spPr>
          <a:xfrm>
            <a:off x="6172200" y="1554480"/>
            <a:ext cx="5484240" cy="500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5"/>
          <p:cNvSpPr/>
          <p:nvPr/>
        </p:nvSpPr>
        <p:spPr>
          <a:xfrm>
            <a:off x="6355080" y="1554480"/>
            <a:ext cx="511848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5149"/>
                </a:solidFill>
                <a:effectLst/>
                <a:uFillTx/>
                <a:latin typeface="Consolas"/>
                <a:ea typeface="Consolas"/>
              </a:rPr>
              <a:t>[!]  </a:t>
            </a: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CONSTRAINTS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6"/>
          <p:cNvSpPr/>
          <p:nvPr/>
        </p:nvSpPr>
        <p:spPr>
          <a:xfrm>
            <a:off x="6172200" y="2240280"/>
            <a:ext cx="5484240" cy="6562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7"/>
          <p:cNvSpPr/>
          <p:nvPr/>
        </p:nvSpPr>
        <p:spPr>
          <a:xfrm>
            <a:off x="6172200" y="2240280"/>
            <a:ext cx="52560" cy="65628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8"/>
          <p:cNvSpPr/>
          <p:nvPr/>
        </p:nvSpPr>
        <p:spPr>
          <a:xfrm>
            <a:off x="6355080" y="2295000"/>
            <a:ext cx="511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Not human-readable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9"/>
          <p:cNvSpPr/>
          <p:nvPr/>
        </p:nvSpPr>
        <p:spPr>
          <a:xfrm>
            <a:off x="6355080" y="2551320"/>
            <a:ext cx="5164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You can't eyeball or grep the payload — bytes only.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0"/>
          <p:cNvSpPr/>
          <p:nvPr/>
        </p:nvSpPr>
        <p:spPr>
          <a:xfrm>
            <a:off x="6172200" y="3008520"/>
            <a:ext cx="5484240" cy="6562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1"/>
          <p:cNvSpPr/>
          <p:nvPr/>
        </p:nvSpPr>
        <p:spPr>
          <a:xfrm>
            <a:off x="6172200" y="3008520"/>
            <a:ext cx="52560" cy="65628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2"/>
          <p:cNvSpPr/>
          <p:nvPr/>
        </p:nvSpPr>
        <p:spPr>
          <a:xfrm>
            <a:off x="6355080" y="3063240"/>
            <a:ext cx="511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Schema required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3"/>
          <p:cNvSpPr/>
          <p:nvPr/>
        </p:nvSpPr>
        <p:spPr>
          <a:xfrm>
            <a:off x="6355080" y="3319200"/>
            <a:ext cx="5164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Without the .proto, fields are just numbered blobs.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4"/>
          <p:cNvSpPr/>
          <p:nvPr/>
        </p:nvSpPr>
        <p:spPr>
          <a:xfrm>
            <a:off x="6172200" y="3776400"/>
            <a:ext cx="5484240" cy="6562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5"/>
          <p:cNvSpPr/>
          <p:nvPr/>
        </p:nvSpPr>
        <p:spPr>
          <a:xfrm>
            <a:off x="6172200" y="3776400"/>
            <a:ext cx="52560" cy="65628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6"/>
          <p:cNvSpPr/>
          <p:nvPr/>
        </p:nvSpPr>
        <p:spPr>
          <a:xfrm>
            <a:off x="6355080" y="3831480"/>
            <a:ext cx="511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Tooling needed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7"/>
          <p:cNvSpPr/>
          <p:nvPr/>
        </p:nvSpPr>
        <p:spPr>
          <a:xfrm>
            <a:off x="6355080" y="4087440"/>
            <a:ext cx="5164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curl/Postman won't cut it; you need decoders &amp; generators.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8"/>
          <p:cNvSpPr/>
          <p:nvPr/>
        </p:nvSpPr>
        <p:spPr>
          <a:xfrm>
            <a:off x="6172200" y="4544640"/>
            <a:ext cx="5484240" cy="6562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9"/>
          <p:cNvSpPr/>
          <p:nvPr/>
        </p:nvSpPr>
        <p:spPr>
          <a:xfrm>
            <a:off x="6172200" y="4544640"/>
            <a:ext cx="52560" cy="65628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40"/>
          <p:cNvSpPr/>
          <p:nvPr/>
        </p:nvSpPr>
        <p:spPr>
          <a:xfrm>
            <a:off x="6355080" y="4599360"/>
            <a:ext cx="511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Harder to debug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1"/>
          <p:cNvSpPr/>
          <p:nvPr/>
        </p:nvSpPr>
        <p:spPr>
          <a:xfrm>
            <a:off x="6355080" y="4855320"/>
            <a:ext cx="5164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Inspecting traffic requires extra steps (this is our hook).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42"/>
          <p:cNvSpPr/>
          <p:nvPr/>
        </p:nvSpPr>
        <p:spPr>
          <a:xfrm>
            <a:off x="6172200" y="5312520"/>
            <a:ext cx="5484240" cy="6562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3"/>
          <p:cNvSpPr/>
          <p:nvPr/>
        </p:nvSpPr>
        <p:spPr>
          <a:xfrm>
            <a:off x="6172200" y="5312520"/>
            <a:ext cx="52560" cy="65628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4"/>
          <p:cNvSpPr/>
          <p:nvPr/>
        </p:nvSpPr>
        <p:spPr>
          <a:xfrm>
            <a:off x="6355080" y="5367600"/>
            <a:ext cx="511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Field-number lock-in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5"/>
          <p:cNvSpPr/>
          <p:nvPr/>
        </p:nvSpPr>
        <p:spPr>
          <a:xfrm>
            <a:off x="6355080" y="5623560"/>
            <a:ext cx="5164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Numbers can't be reused safely once assigned.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user@proto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:~$ vim person.proto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The schema: .proto &amp; scalar types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"/>
          <p:cNvSpPr/>
          <p:nvPr/>
        </p:nvSpPr>
        <p:spPr>
          <a:xfrm>
            <a:off x="502920" y="1508760"/>
            <a:ext cx="5484240" cy="4478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685800" y="1627560"/>
            <a:ext cx="45698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person.proto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685800" y="2011680"/>
            <a:ext cx="5118480" cy="27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BC8CFF"/>
                </a:solidFill>
                <a:effectLst/>
                <a:uFillTx/>
                <a:latin typeface="Consolas"/>
                <a:ea typeface="Consolas"/>
              </a:rPr>
              <a:t>syntax = </a:t>
            </a:r>
            <a:r>
              <a:rPr lang="en-US" sz="1500" b="0" u="none" strike="noStrik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"proto3"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;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BC8CFF"/>
                </a:solidFill>
                <a:effectLst/>
                <a:uFillTx/>
                <a:latin typeface="Consolas"/>
                <a:ea typeface="Consolas"/>
              </a:rPr>
              <a:t>message </a:t>
            </a:r>
            <a:r>
              <a:rPr lang="en-US" sz="1500" b="0" u="none" strike="noStrike">
                <a:solidFill>
                  <a:srgbClr val="56D4DD"/>
                </a:solidFill>
                <a:effectLst/>
                <a:uFillTx/>
                <a:latin typeface="Consolas"/>
                <a:ea typeface="Consolas"/>
              </a:rPr>
              <a:t>Person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 {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  int32 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id = </a:t>
            </a:r>
            <a:r>
              <a:rPr lang="en-US" sz="15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1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;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  string 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name = </a:t>
            </a:r>
            <a:r>
              <a:rPr lang="en-US" sz="15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2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;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  bool 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active = </a:t>
            </a:r>
            <a:r>
              <a:rPr lang="en-US" sz="15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3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;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  repeated string 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roles = </a:t>
            </a:r>
            <a:r>
              <a:rPr lang="en-US" sz="15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4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;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685800" y="5074920"/>
            <a:ext cx="511848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DD4BF"/>
                </a:solidFill>
                <a:effectLst/>
                <a:uFillTx/>
                <a:latin typeface="Calibri"/>
                <a:ea typeface="Calibri"/>
              </a:rPr>
              <a:t>field number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 (the = N) is what travels on the wire — not the field name. Numbers 1–15 cost one byte.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6355080" y="1554480"/>
            <a:ext cx="54842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Common scalar types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7"/>
          <p:cNvSpPr/>
          <p:nvPr/>
        </p:nvSpPr>
        <p:spPr>
          <a:xfrm>
            <a:off x="6355080" y="2011680"/>
            <a:ext cx="5301360" cy="418320"/>
          </a:xfrm>
          <a:prstGeom prst="rect">
            <a:avLst/>
          </a:prstGeom>
          <a:solidFill>
            <a:srgbClr val="1F2630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8"/>
          <p:cNvSpPr/>
          <p:nvPr/>
        </p:nvSpPr>
        <p:spPr>
          <a:xfrm>
            <a:off x="6446520" y="2011680"/>
            <a:ext cx="22838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int32 / int64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8732520" y="2011680"/>
            <a:ext cx="28782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Variable-length integers (varint)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0"/>
          <p:cNvSpPr/>
          <p:nvPr/>
        </p:nvSpPr>
        <p:spPr>
          <a:xfrm>
            <a:off x="6355080" y="2514600"/>
            <a:ext cx="5301360" cy="418320"/>
          </a:xfrm>
          <a:prstGeom prst="rect">
            <a:avLst/>
          </a:prstGeom>
          <a:solidFill>
            <a:srgbClr val="13181F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1"/>
          <p:cNvSpPr/>
          <p:nvPr/>
        </p:nvSpPr>
        <p:spPr>
          <a:xfrm>
            <a:off x="6446520" y="2514600"/>
            <a:ext cx="22838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uint32 / uint64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2"/>
          <p:cNvSpPr/>
          <p:nvPr/>
        </p:nvSpPr>
        <p:spPr>
          <a:xfrm>
            <a:off x="8732520" y="2514600"/>
            <a:ext cx="28782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Unsigned varints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3"/>
          <p:cNvSpPr/>
          <p:nvPr/>
        </p:nvSpPr>
        <p:spPr>
          <a:xfrm>
            <a:off x="6355080" y="3017520"/>
            <a:ext cx="5301360" cy="418320"/>
          </a:xfrm>
          <a:prstGeom prst="rect">
            <a:avLst/>
          </a:prstGeom>
          <a:solidFill>
            <a:srgbClr val="1F2630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6446520" y="3017520"/>
            <a:ext cx="22838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sint32 / sint64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8732520" y="3017520"/>
            <a:ext cx="28782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Signed — ZigZag encoded (efficient for negatives)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6"/>
          <p:cNvSpPr/>
          <p:nvPr/>
        </p:nvSpPr>
        <p:spPr>
          <a:xfrm>
            <a:off x="6355080" y="3520440"/>
            <a:ext cx="5301360" cy="418320"/>
          </a:xfrm>
          <a:prstGeom prst="rect">
            <a:avLst/>
          </a:prstGeom>
          <a:solidFill>
            <a:srgbClr val="13181F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7"/>
          <p:cNvSpPr/>
          <p:nvPr/>
        </p:nvSpPr>
        <p:spPr>
          <a:xfrm>
            <a:off x="6446520" y="3520440"/>
            <a:ext cx="22838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fixed32 / fixed64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8"/>
          <p:cNvSpPr/>
          <p:nvPr/>
        </p:nvSpPr>
        <p:spPr>
          <a:xfrm>
            <a:off x="8732520" y="3520440"/>
            <a:ext cx="28782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Fixed-width; faster for large values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9"/>
          <p:cNvSpPr/>
          <p:nvPr/>
        </p:nvSpPr>
        <p:spPr>
          <a:xfrm>
            <a:off x="6355080" y="4023360"/>
            <a:ext cx="5301360" cy="418320"/>
          </a:xfrm>
          <a:prstGeom prst="rect">
            <a:avLst/>
          </a:prstGeom>
          <a:solidFill>
            <a:srgbClr val="1F2630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0"/>
          <p:cNvSpPr/>
          <p:nvPr/>
        </p:nvSpPr>
        <p:spPr>
          <a:xfrm>
            <a:off x="6446520" y="4023360"/>
            <a:ext cx="22838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float / double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1"/>
          <p:cNvSpPr/>
          <p:nvPr/>
        </p:nvSpPr>
        <p:spPr>
          <a:xfrm>
            <a:off x="8732520" y="4023360"/>
            <a:ext cx="28782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32 / 64-bit IEEE 754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2"/>
          <p:cNvSpPr/>
          <p:nvPr/>
        </p:nvSpPr>
        <p:spPr>
          <a:xfrm>
            <a:off x="6355080" y="4526280"/>
            <a:ext cx="5301360" cy="418320"/>
          </a:xfrm>
          <a:prstGeom prst="rect">
            <a:avLst/>
          </a:prstGeom>
          <a:solidFill>
            <a:srgbClr val="13181F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3"/>
          <p:cNvSpPr/>
          <p:nvPr/>
        </p:nvSpPr>
        <p:spPr>
          <a:xfrm>
            <a:off x="6446520" y="4526280"/>
            <a:ext cx="22838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bool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4"/>
          <p:cNvSpPr/>
          <p:nvPr/>
        </p:nvSpPr>
        <p:spPr>
          <a:xfrm>
            <a:off x="8732520" y="4526280"/>
            <a:ext cx="28782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Single varint (0 or 1)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5"/>
          <p:cNvSpPr/>
          <p:nvPr/>
        </p:nvSpPr>
        <p:spPr>
          <a:xfrm>
            <a:off x="6355080" y="5029200"/>
            <a:ext cx="5301360" cy="418320"/>
          </a:xfrm>
          <a:prstGeom prst="rect">
            <a:avLst/>
          </a:prstGeom>
          <a:solidFill>
            <a:srgbClr val="1F2630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6"/>
          <p:cNvSpPr/>
          <p:nvPr/>
        </p:nvSpPr>
        <p:spPr>
          <a:xfrm>
            <a:off x="6446520" y="5029200"/>
            <a:ext cx="22838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string / bytes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7"/>
          <p:cNvSpPr/>
          <p:nvPr/>
        </p:nvSpPr>
        <p:spPr>
          <a:xfrm>
            <a:off x="8732520" y="5029200"/>
            <a:ext cx="28782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Length-delimited UTF-8 / raw binary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8"/>
          <p:cNvSpPr/>
          <p:nvPr/>
        </p:nvSpPr>
        <p:spPr>
          <a:xfrm>
            <a:off x="6355080" y="5532120"/>
            <a:ext cx="5301360" cy="418320"/>
          </a:xfrm>
          <a:prstGeom prst="rect">
            <a:avLst/>
          </a:prstGeom>
          <a:solidFill>
            <a:srgbClr val="13181F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9"/>
          <p:cNvSpPr/>
          <p:nvPr/>
        </p:nvSpPr>
        <p:spPr>
          <a:xfrm>
            <a:off x="6446520" y="5532120"/>
            <a:ext cx="22838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enum / message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0"/>
          <p:cNvSpPr/>
          <p:nvPr/>
        </p:nvSpPr>
        <p:spPr>
          <a:xfrm>
            <a:off x="8732520" y="5532120"/>
            <a:ext cx="28782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Named constants / nested types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user@proto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:~$ xxd message.bin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On the wire — anatomy of a field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502920" y="1371600"/>
            <a:ext cx="111535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Every field is a </a:t>
            </a:r>
            <a:r>
              <a:rPr lang="en-US" sz="1500" b="1" u="none" strike="noStrike">
                <a:solidFill>
                  <a:srgbClr val="2DD4BF"/>
                </a:solidFill>
                <a:effectLst/>
                <a:uFillTx/>
                <a:latin typeface="Calibri"/>
                <a:ea typeface="Calibri"/>
              </a:rPr>
              <a:t>tag</a:t>
            </a:r>
            <a:r>
              <a:rPr lang="en-US" sz="15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 then a </a:t>
            </a:r>
            <a:r>
              <a:rPr lang="en-US" sz="1500" b="1" u="none" strike="noStrike">
                <a:solidFill>
                  <a:srgbClr val="E3B341"/>
                </a:solidFill>
                <a:effectLst/>
                <a:uFillTx/>
                <a:latin typeface="Calibri"/>
                <a:ea typeface="Calibri"/>
              </a:rPr>
              <a:t>value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.  tag = (field_number &lt;&lt; 3) | wire_type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502920" y="1874520"/>
            <a:ext cx="5484240" cy="2009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685800" y="199332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Tag byte  0x08  =  0000 1000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5"/>
          <p:cNvSpPr/>
          <p:nvPr/>
        </p:nvSpPr>
        <p:spPr>
          <a:xfrm>
            <a:off x="685800" y="2423160"/>
            <a:ext cx="400320" cy="455040"/>
          </a:xfrm>
          <a:prstGeom prst="rect">
            <a:avLst/>
          </a:prstGeom>
          <a:solidFill>
            <a:srgbClr val="2A2520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685800" y="2423160"/>
            <a:ext cx="400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7"/>
          <p:cNvSpPr/>
          <p:nvPr/>
        </p:nvSpPr>
        <p:spPr>
          <a:xfrm>
            <a:off x="1143000" y="2423160"/>
            <a:ext cx="400320" cy="455040"/>
          </a:xfrm>
          <a:prstGeom prst="rect">
            <a:avLst/>
          </a:prstGeom>
          <a:solidFill>
            <a:srgbClr val="2A2520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1143000" y="2423160"/>
            <a:ext cx="400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1600200" y="2423160"/>
            <a:ext cx="400320" cy="455040"/>
          </a:xfrm>
          <a:prstGeom prst="rect">
            <a:avLst/>
          </a:prstGeom>
          <a:solidFill>
            <a:srgbClr val="2A2520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1600200" y="2423160"/>
            <a:ext cx="400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1"/>
          <p:cNvSpPr/>
          <p:nvPr/>
        </p:nvSpPr>
        <p:spPr>
          <a:xfrm>
            <a:off x="2057400" y="2423160"/>
            <a:ext cx="400320" cy="455040"/>
          </a:xfrm>
          <a:prstGeom prst="rect">
            <a:avLst/>
          </a:prstGeom>
          <a:solidFill>
            <a:srgbClr val="2A2520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2057400" y="2423160"/>
            <a:ext cx="400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3"/>
          <p:cNvSpPr/>
          <p:nvPr/>
        </p:nvSpPr>
        <p:spPr>
          <a:xfrm>
            <a:off x="2514600" y="2423160"/>
            <a:ext cx="400320" cy="455040"/>
          </a:xfrm>
          <a:prstGeom prst="rect">
            <a:avLst/>
          </a:prstGeom>
          <a:solidFill>
            <a:srgbClr val="2A2520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2514600" y="2423160"/>
            <a:ext cx="400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5"/>
          <p:cNvSpPr/>
          <p:nvPr/>
        </p:nvSpPr>
        <p:spPr>
          <a:xfrm>
            <a:off x="2971800" y="2423160"/>
            <a:ext cx="400320" cy="455040"/>
          </a:xfrm>
          <a:prstGeom prst="rect">
            <a:avLst/>
          </a:prstGeom>
          <a:solidFill>
            <a:srgbClr val="1E2D2B"/>
          </a:solidFill>
          <a:ln w="1587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6"/>
          <p:cNvSpPr/>
          <p:nvPr/>
        </p:nvSpPr>
        <p:spPr>
          <a:xfrm>
            <a:off x="2971800" y="2423160"/>
            <a:ext cx="400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7"/>
          <p:cNvSpPr/>
          <p:nvPr/>
        </p:nvSpPr>
        <p:spPr>
          <a:xfrm>
            <a:off x="3429000" y="2423160"/>
            <a:ext cx="400320" cy="455040"/>
          </a:xfrm>
          <a:prstGeom prst="rect">
            <a:avLst/>
          </a:prstGeom>
          <a:solidFill>
            <a:srgbClr val="1E2D2B"/>
          </a:solidFill>
          <a:ln w="1587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8"/>
          <p:cNvSpPr/>
          <p:nvPr/>
        </p:nvSpPr>
        <p:spPr>
          <a:xfrm>
            <a:off x="3429000" y="2423160"/>
            <a:ext cx="400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9"/>
          <p:cNvSpPr/>
          <p:nvPr/>
        </p:nvSpPr>
        <p:spPr>
          <a:xfrm>
            <a:off x="3886200" y="2423160"/>
            <a:ext cx="400320" cy="455040"/>
          </a:xfrm>
          <a:prstGeom prst="rect">
            <a:avLst/>
          </a:prstGeom>
          <a:solidFill>
            <a:srgbClr val="1E2D2B"/>
          </a:solidFill>
          <a:ln w="1587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0"/>
          <p:cNvSpPr/>
          <p:nvPr/>
        </p:nvSpPr>
        <p:spPr>
          <a:xfrm>
            <a:off x="3886200" y="2423160"/>
            <a:ext cx="400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1"/>
          <p:cNvSpPr/>
          <p:nvPr/>
        </p:nvSpPr>
        <p:spPr>
          <a:xfrm>
            <a:off x="685800" y="2971800"/>
            <a:ext cx="22838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field_number = 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2"/>
          <p:cNvSpPr/>
          <p:nvPr/>
        </p:nvSpPr>
        <p:spPr>
          <a:xfrm>
            <a:off x="3017520" y="2971800"/>
            <a:ext cx="2832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wire_type = 0 (varint)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3"/>
          <p:cNvSpPr/>
          <p:nvPr/>
        </p:nvSpPr>
        <p:spPr>
          <a:xfrm>
            <a:off x="685800" y="338328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upper 5 bits = field number   ·   low 3 bits = wire type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4"/>
          <p:cNvSpPr/>
          <p:nvPr/>
        </p:nvSpPr>
        <p:spPr>
          <a:xfrm>
            <a:off x="6172200" y="1874520"/>
            <a:ext cx="5484240" cy="2009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5"/>
          <p:cNvSpPr/>
          <p:nvPr/>
        </p:nvSpPr>
        <p:spPr>
          <a:xfrm>
            <a:off x="6355080" y="1965960"/>
            <a:ext cx="36554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Wire types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6"/>
          <p:cNvSpPr/>
          <p:nvPr/>
        </p:nvSpPr>
        <p:spPr>
          <a:xfrm>
            <a:off x="6355080" y="2331720"/>
            <a:ext cx="4550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7"/>
          <p:cNvSpPr/>
          <p:nvPr/>
        </p:nvSpPr>
        <p:spPr>
          <a:xfrm>
            <a:off x="6858000" y="2331720"/>
            <a:ext cx="15523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VARINT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8"/>
          <p:cNvSpPr/>
          <p:nvPr/>
        </p:nvSpPr>
        <p:spPr>
          <a:xfrm>
            <a:off x="8503920" y="2331720"/>
            <a:ext cx="31068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int32/64, bool, enum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9"/>
          <p:cNvSpPr/>
          <p:nvPr/>
        </p:nvSpPr>
        <p:spPr>
          <a:xfrm>
            <a:off x="6355080" y="2697480"/>
            <a:ext cx="4550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0"/>
          <p:cNvSpPr/>
          <p:nvPr/>
        </p:nvSpPr>
        <p:spPr>
          <a:xfrm>
            <a:off x="6858000" y="2697480"/>
            <a:ext cx="15523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I64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1"/>
          <p:cNvSpPr/>
          <p:nvPr/>
        </p:nvSpPr>
        <p:spPr>
          <a:xfrm>
            <a:off x="8503920" y="2697480"/>
            <a:ext cx="31068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fixed64, double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2"/>
          <p:cNvSpPr/>
          <p:nvPr/>
        </p:nvSpPr>
        <p:spPr>
          <a:xfrm>
            <a:off x="6355080" y="3063240"/>
            <a:ext cx="4550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3"/>
          <p:cNvSpPr/>
          <p:nvPr/>
        </p:nvSpPr>
        <p:spPr>
          <a:xfrm>
            <a:off x="6858000" y="3063240"/>
            <a:ext cx="15523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LEN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4"/>
          <p:cNvSpPr/>
          <p:nvPr/>
        </p:nvSpPr>
        <p:spPr>
          <a:xfrm>
            <a:off x="8503920" y="3063240"/>
            <a:ext cx="31068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string, bytes, messages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5"/>
          <p:cNvSpPr/>
          <p:nvPr/>
        </p:nvSpPr>
        <p:spPr>
          <a:xfrm>
            <a:off x="6355080" y="3429000"/>
            <a:ext cx="4550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6"/>
          <p:cNvSpPr/>
          <p:nvPr/>
        </p:nvSpPr>
        <p:spPr>
          <a:xfrm>
            <a:off x="6858000" y="3429000"/>
            <a:ext cx="15523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I32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7"/>
          <p:cNvSpPr/>
          <p:nvPr/>
        </p:nvSpPr>
        <p:spPr>
          <a:xfrm>
            <a:off x="8503920" y="3429000"/>
            <a:ext cx="31068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fixed32, float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8"/>
          <p:cNvSpPr/>
          <p:nvPr/>
        </p:nvSpPr>
        <p:spPr>
          <a:xfrm>
            <a:off x="6355080" y="3822120"/>
            <a:ext cx="511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Types 3 &amp; 4 (groups) are deprecated / proto2 only.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9"/>
          <p:cNvSpPr/>
          <p:nvPr/>
        </p:nvSpPr>
        <p:spPr>
          <a:xfrm>
            <a:off x="502920" y="4069080"/>
            <a:ext cx="11153520" cy="19180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40"/>
          <p:cNvSpPr/>
          <p:nvPr/>
        </p:nvSpPr>
        <p:spPr>
          <a:xfrm>
            <a:off x="685800" y="4206240"/>
            <a:ext cx="109706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DD4BF"/>
                </a:solidFill>
                <a:effectLst/>
                <a:uFillTx/>
                <a:latin typeface="Calibri"/>
                <a:ea typeface="Calibri"/>
              </a:rPr>
              <a:t>Varints</a:t>
            </a:r>
            <a:r>
              <a:rPr lang="en-US" sz="13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 — small ints take few bytes. Each byte gives 7 bits of value; the high bit (MSB) is a 'more follows' continuation flag. Bytes are little-endian (low group first).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1"/>
          <p:cNvSpPr/>
          <p:nvPr/>
        </p:nvSpPr>
        <p:spPr>
          <a:xfrm>
            <a:off x="685800" y="4892040"/>
            <a:ext cx="45698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Encode 150  →  bytes  96 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42"/>
          <p:cNvSpPr/>
          <p:nvPr/>
        </p:nvSpPr>
        <p:spPr>
          <a:xfrm>
            <a:off x="685800" y="5257800"/>
            <a:ext cx="5648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3"/>
          <p:cNvSpPr/>
          <p:nvPr/>
        </p:nvSpPr>
        <p:spPr>
          <a:xfrm>
            <a:off x="685800" y="5257800"/>
            <a:ext cx="5648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96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44"/>
          <p:cNvSpPr/>
          <p:nvPr/>
        </p:nvSpPr>
        <p:spPr>
          <a:xfrm>
            <a:off x="1344240" y="5257800"/>
            <a:ext cx="5648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5"/>
          <p:cNvSpPr/>
          <p:nvPr/>
        </p:nvSpPr>
        <p:spPr>
          <a:xfrm>
            <a:off x="1344240" y="5257800"/>
            <a:ext cx="5648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6"/>
          <p:cNvSpPr/>
          <p:nvPr/>
        </p:nvSpPr>
        <p:spPr>
          <a:xfrm>
            <a:off x="2194560" y="5029200"/>
            <a:ext cx="639864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0x96 = 1</a:t>
            </a:r>
            <a:r>
              <a:rPr lang="en-US" sz="1150" b="0" u="none" strike="noStrike">
                <a:solidFill>
                  <a:srgbClr val="F85149"/>
                </a:solidFill>
                <a:effectLst/>
                <a:uFillTx/>
                <a:latin typeface="Consolas"/>
                <a:ea typeface="Consolas"/>
              </a:rPr>
              <a:t>0010110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  → MSB=1, more follows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0x01 = 0</a:t>
            </a:r>
            <a:r>
              <a:rPr lang="en-US" sz="1150" b="0" u="none" strike="noStrik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0000001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  → MSB=0, last byte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concat low→high: 0000001 0010110 = 150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7"/>
          <p:cNvSpPr/>
          <p:nvPr/>
        </p:nvSpPr>
        <p:spPr>
          <a:xfrm>
            <a:off x="8595360" y="5029200"/>
            <a:ext cx="301536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MSB stripped, groups reversed, then concatenated.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user@proto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:~$ protoc --decode Person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Decoding a full message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502920" y="1371600"/>
            <a:ext cx="109706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Person { id: 1, name: "Alice", active: true }  →  11 bytes: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50292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50292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5"/>
          <p:cNvSpPr/>
          <p:nvPr/>
        </p:nvSpPr>
        <p:spPr>
          <a:xfrm>
            <a:off x="128016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128016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7"/>
          <p:cNvSpPr/>
          <p:nvPr/>
        </p:nvSpPr>
        <p:spPr>
          <a:xfrm>
            <a:off x="205740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205740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12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9"/>
          <p:cNvSpPr/>
          <p:nvPr/>
        </p:nvSpPr>
        <p:spPr>
          <a:xfrm>
            <a:off x="283464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283464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C8CFF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361188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2"/>
          <p:cNvSpPr/>
          <p:nvPr/>
        </p:nvSpPr>
        <p:spPr>
          <a:xfrm>
            <a:off x="361188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41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3"/>
          <p:cNvSpPr/>
          <p:nvPr/>
        </p:nvSpPr>
        <p:spPr>
          <a:xfrm>
            <a:off x="438912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4"/>
          <p:cNvSpPr/>
          <p:nvPr/>
        </p:nvSpPr>
        <p:spPr>
          <a:xfrm>
            <a:off x="438912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6c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5"/>
          <p:cNvSpPr/>
          <p:nvPr/>
        </p:nvSpPr>
        <p:spPr>
          <a:xfrm>
            <a:off x="516636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516636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69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594360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594360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63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9"/>
          <p:cNvSpPr/>
          <p:nvPr/>
        </p:nvSpPr>
        <p:spPr>
          <a:xfrm>
            <a:off x="672084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0"/>
          <p:cNvSpPr/>
          <p:nvPr/>
        </p:nvSpPr>
        <p:spPr>
          <a:xfrm>
            <a:off x="672084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65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1"/>
          <p:cNvSpPr/>
          <p:nvPr/>
        </p:nvSpPr>
        <p:spPr>
          <a:xfrm>
            <a:off x="749808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2"/>
          <p:cNvSpPr/>
          <p:nvPr/>
        </p:nvSpPr>
        <p:spPr>
          <a:xfrm>
            <a:off x="749808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18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3"/>
          <p:cNvSpPr/>
          <p:nvPr/>
        </p:nvSpPr>
        <p:spPr>
          <a:xfrm>
            <a:off x="8275320" y="1874520"/>
            <a:ext cx="683640" cy="473400"/>
          </a:xfrm>
          <a:prstGeom prst="rect">
            <a:avLst/>
          </a:prstGeom>
          <a:solidFill>
            <a:srgbClr val="161B22"/>
          </a:solidFill>
          <a:ln w="15875">
            <a:solidFill>
              <a:srgbClr val="E3B3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4"/>
          <p:cNvSpPr/>
          <p:nvPr/>
        </p:nvSpPr>
        <p:spPr>
          <a:xfrm>
            <a:off x="8275320" y="1874520"/>
            <a:ext cx="68364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5"/>
          <p:cNvSpPr/>
          <p:nvPr/>
        </p:nvSpPr>
        <p:spPr>
          <a:xfrm>
            <a:off x="502920" y="2743200"/>
            <a:ext cx="7313040" cy="4183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6"/>
          <p:cNvSpPr/>
          <p:nvPr/>
        </p:nvSpPr>
        <p:spPr>
          <a:xfrm>
            <a:off x="640080" y="2743200"/>
            <a:ext cx="18266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08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7"/>
          <p:cNvSpPr/>
          <p:nvPr/>
        </p:nvSpPr>
        <p:spPr>
          <a:xfrm>
            <a:off x="2560320" y="2743200"/>
            <a:ext cx="12780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tag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8"/>
          <p:cNvSpPr/>
          <p:nvPr/>
        </p:nvSpPr>
        <p:spPr>
          <a:xfrm>
            <a:off x="3840480" y="2743200"/>
            <a:ext cx="38383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field 1, varint (id)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29"/>
          <p:cNvSpPr/>
          <p:nvPr/>
        </p:nvSpPr>
        <p:spPr>
          <a:xfrm>
            <a:off x="502920" y="3255120"/>
            <a:ext cx="7313040" cy="4183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0"/>
          <p:cNvSpPr/>
          <p:nvPr/>
        </p:nvSpPr>
        <p:spPr>
          <a:xfrm>
            <a:off x="640080" y="3255120"/>
            <a:ext cx="18266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1"/>
          <p:cNvSpPr/>
          <p:nvPr/>
        </p:nvSpPr>
        <p:spPr>
          <a:xfrm>
            <a:off x="2560320" y="3255120"/>
            <a:ext cx="12780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value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2"/>
          <p:cNvSpPr/>
          <p:nvPr/>
        </p:nvSpPr>
        <p:spPr>
          <a:xfrm>
            <a:off x="3840480" y="3255120"/>
            <a:ext cx="38383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id = 1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33"/>
          <p:cNvSpPr/>
          <p:nvPr/>
        </p:nvSpPr>
        <p:spPr>
          <a:xfrm>
            <a:off x="502920" y="3767400"/>
            <a:ext cx="7313040" cy="4183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4"/>
          <p:cNvSpPr/>
          <p:nvPr/>
        </p:nvSpPr>
        <p:spPr>
          <a:xfrm>
            <a:off x="640080" y="3767400"/>
            <a:ext cx="18266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12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35"/>
          <p:cNvSpPr/>
          <p:nvPr/>
        </p:nvSpPr>
        <p:spPr>
          <a:xfrm>
            <a:off x="2560320" y="3767400"/>
            <a:ext cx="12780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tag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36"/>
          <p:cNvSpPr/>
          <p:nvPr/>
        </p:nvSpPr>
        <p:spPr>
          <a:xfrm>
            <a:off x="3840480" y="3767400"/>
            <a:ext cx="38383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field 2, LEN (name)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37"/>
          <p:cNvSpPr/>
          <p:nvPr/>
        </p:nvSpPr>
        <p:spPr>
          <a:xfrm>
            <a:off x="502920" y="4279320"/>
            <a:ext cx="7313040" cy="4183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8"/>
          <p:cNvSpPr/>
          <p:nvPr/>
        </p:nvSpPr>
        <p:spPr>
          <a:xfrm>
            <a:off x="640080" y="4279320"/>
            <a:ext cx="18266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C8CFF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9"/>
          <p:cNvSpPr/>
          <p:nvPr/>
        </p:nvSpPr>
        <p:spPr>
          <a:xfrm>
            <a:off x="2560320" y="4279320"/>
            <a:ext cx="12780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length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0"/>
          <p:cNvSpPr/>
          <p:nvPr/>
        </p:nvSpPr>
        <p:spPr>
          <a:xfrm>
            <a:off x="3840480" y="4279320"/>
            <a:ext cx="38383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5 bytes follow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41"/>
          <p:cNvSpPr/>
          <p:nvPr/>
        </p:nvSpPr>
        <p:spPr>
          <a:xfrm>
            <a:off x="502920" y="4791600"/>
            <a:ext cx="7313040" cy="4183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42"/>
          <p:cNvSpPr/>
          <p:nvPr/>
        </p:nvSpPr>
        <p:spPr>
          <a:xfrm>
            <a:off x="640080" y="4791600"/>
            <a:ext cx="18266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41 6c 69 63 65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43"/>
          <p:cNvSpPr/>
          <p:nvPr/>
        </p:nvSpPr>
        <p:spPr>
          <a:xfrm>
            <a:off x="2560320" y="4791600"/>
            <a:ext cx="12780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value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44"/>
          <p:cNvSpPr/>
          <p:nvPr/>
        </p:nvSpPr>
        <p:spPr>
          <a:xfrm>
            <a:off x="3840480" y="4791600"/>
            <a:ext cx="38383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"Alice" in ASCII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45"/>
          <p:cNvSpPr/>
          <p:nvPr/>
        </p:nvSpPr>
        <p:spPr>
          <a:xfrm>
            <a:off x="502920" y="5303520"/>
            <a:ext cx="7313040" cy="4183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46"/>
          <p:cNvSpPr/>
          <p:nvPr/>
        </p:nvSpPr>
        <p:spPr>
          <a:xfrm>
            <a:off x="640080" y="5303520"/>
            <a:ext cx="18266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18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7"/>
          <p:cNvSpPr/>
          <p:nvPr/>
        </p:nvSpPr>
        <p:spPr>
          <a:xfrm>
            <a:off x="2560320" y="5303520"/>
            <a:ext cx="12780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tag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48"/>
          <p:cNvSpPr/>
          <p:nvPr/>
        </p:nvSpPr>
        <p:spPr>
          <a:xfrm>
            <a:off x="3840480" y="5303520"/>
            <a:ext cx="38383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field 3, varint (active)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49"/>
          <p:cNvSpPr/>
          <p:nvPr/>
        </p:nvSpPr>
        <p:spPr>
          <a:xfrm>
            <a:off x="502920" y="5815440"/>
            <a:ext cx="7313040" cy="4183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0"/>
          <p:cNvSpPr/>
          <p:nvPr/>
        </p:nvSpPr>
        <p:spPr>
          <a:xfrm>
            <a:off x="640080" y="5815440"/>
            <a:ext cx="18266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1"/>
          <p:cNvSpPr/>
          <p:nvPr/>
        </p:nvSpPr>
        <p:spPr>
          <a:xfrm>
            <a:off x="2560320" y="5815440"/>
            <a:ext cx="12780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value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52"/>
          <p:cNvSpPr/>
          <p:nvPr/>
        </p:nvSpPr>
        <p:spPr>
          <a:xfrm>
            <a:off x="3840480" y="5815440"/>
            <a:ext cx="38383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active = true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53"/>
          <p:cNvSpPr/>
          <p:nvPr/>
        </p:nvSpPr>
        <p:spPr>
          <a:xfrm>
            <a:off x="8092440" y="2743200"/>
            <a:ext cx="3564000" cy="1689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54"/>
          <p:cNvSpPr/>
          <p:nvPr/>
        </p:nvSpPr>
        <p:spPr>
          <a:xfrm>
            <a:off x="8229600" y="2816280"/>
            <a:ext cx="32896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85149"/>
                </a:solidFill>
                <a:effectLst/>
                <a:uFillTx/>
                <a:latin typeface="Calibri"/>
                <a:ea typeface="Calibri"/>
              </a:rPr>
              <a:t>Negatives &amp; ZigZag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5"/>
          <p:cNvSpPr/>
          <p:nvPr/>
        </p:nvSpPr>
        <p:spPr>
          <a:xfrm>
            <a:off x="8229600" y="3154680"/>
            <a:ext cx="333540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50" b="0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int32 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of -1 → </a:t>
            </a:r>
            <a:r>
              <a:rPr lang="en-US" sz="1150" b="1" u="none" strike="noStrike">
                <a:solidFill>
                  <a:srgbClr val="F85149"/>
                </a:solidFill>
                <a:effectLst/>
                <a:uFillTx/>
                <a:latin typeface="Consolas"/>
                <a:ea typeface="Consolas"/>
              </a:rPr>
              <a:t>10 bytes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 (treated as huge unsigned).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sint32 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uses </a:t>
            </a:r>
            <a:r>
              <a:rPr lang="en-US" sz="1150" b="1" u="none" strike="noStrike">
                <a:solidFill>
                  <a:srgbClr val="3FB950"/>
                </a:solidFill>
                <a:effectLst/>
                <a:uFillTx/>
                <a:latin typeface="Calibri"/>
                <a:ea typeface="Calibri"/>
              </a:rPr>
              <a:t>ZigZag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: maps -1→1, 1→2, -2→3… so small magnitudes stay 1 byte.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56"/>
          <p:cNvSpPr/>
          <p:nvPr/>
        </p:nvSpPr>
        <p:spPr>
          <a:xfrm>
            <a:off x="8092440" y="4572000"/>
            <a:ext cx="3564000" cy="1415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7"/>
          <p:cNvSpPr/>
          <p:nvPr/>
        </p:nvSpPr>
        <p:spPr>
          <a:xfrm>
            <a:off x="8229600" y="4645080"/>
            <a:ext cx="32896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56D4DD"/>
                </a:solidFill>
                <a:effectLst/>
                <a:uFillTx/>
                <a:latin typeface="Calibri"/>
                <a:ea typeface="Calibri"/>
              </a:rPr>
              <a:t>gRPC framing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58"/>
          <p:cNvSpPr/>
          <p:nvPr/>
        </p:nvSpPr>
        <p:spPr>
          <a:xfrm>
            <a:off x="8229600" y="4956120"/>
            <a:ext cx="33354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6D4DD"/>
                </a:solidFill>
                <a:effectLst/>
                <a:uFillTx/>
                <a:latin typeface="Consolas"/>
                <a:ea typeface="Consolas"/>
              </a:rPr>
              <a:t>1 byte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 compression flag + </a:t>
            </a:r>
            <a:r>
              <a:rPr lang="en-US" sz="1150" b="1" u="none" strike="noStrike">
                <a:solidFill>
                  <a:srgbClr val="56D4DD"/>
                </a:solidFill>
                <a:effectLst/>
                <a:uFillTx/>
                <a:latin typeface="Consolas"/>
                <a:ea typeface="Consolas"/>
              </a:rPr>
              <a:t>4 bytes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 big-endian length, then the protobuf body.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9"/>
          <p:cNvSpPr/>
          <p:nvPr/>
        </p:nvSpPr>
        <p:spPr>
          <a:xfrm>
            <a:off x="8229600" y="5577840"/>
            <a:ext cx="3335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E3B341"/>
                </a:solidFill>
                <a:effectLst/>
                <a:uFillTx/>
                <a:latin typeface="Consolas"/>
                <a:ea typeface="Consolas"/>
              </a:rPr>
              <a:t>Strip these 5 bytes before decoding.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60"/>
          <p:cNvSpPr/>
          <p:nvPr/>
        </p:nvSpPr>
        <p:spPr>
          <a:xfrm>
            <a:off x="502920" y="6355080"/>
            <a:ext cx="7313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Field names (id, name, active) never appear on the wire — only their numbers. That's why you need the .proto to fully interpret a capture.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user@proto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:~$ ./why_we_care.sh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Why this matters for security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2"/>
          <p:cNvSpPr/>
          <p:nvPr/>
        </p:nvSpPr>
        <p:spPr>
          <a:xfrm>
            <a:off x="50292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"/>
          <p:cNvSpPr/>
          <p:nvPr/>
        </p:nvSpPr>
        <p:spPr>
          <a:xfrm>
            <a:off x="502920" y="160020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"/>
          <p:cNvSpPr/>
          <p:nvPr/>
        </p:nvSpPr>
        <p:spPr>
          <a:xfrm>
            <a:off x="73152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Opaque to inspection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73152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Binary payloads dodge casual review — proxies, WAFs and analysts can't read them without a decoder.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6"/>
          <p:cNvSpPr/>
          <p:nvPr/>
        </p:nvSpPr>
        <p:spPr>
          <a:xfrm>
            <a:off x="617220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7"/>
          <p:cNvSpPr/>
          <p:nvPr/>
        </p:nvSpPr>
        <p:spPr>
          <a:xfrm>
            <a:off x="6172200" y="1600200"/>
            <a:ext cx="61920" cy="13237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8"/>
          <p:cNvSpPr/>
          <p:nvPr/>
        </p:nvSpPr>
        <p:spPr>
          <a:xfrm>
            <a:off x="640080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Tooling gap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9"/>
          <p:cNvSpPr/>
          <p:nvPr/>
        </p:nvSpPr>
        <p:spPr>
          <a:xfrm>
            <a:off x="640080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Burp, ZAP and curl show raw bytes by default. Editing a single field by hand is painful and error-prone.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0"/>
          <p:cNvSpPr/>
          <p:nvPr/>
        </p:nvSpPr>
        <p:spPr>
          <a:xfrm>
            <a:off x="50292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1"/>
          <p:cNvSpPr/>
          <p:nvPr/>
        </p:nvSpPr>
        <p:spPr>
          <a:xfrm>
            <a:off x="502920" y="312732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2"/>
          <p:cNvSpPr/>
          <p:nvPr/>
        </p:nvSpPr>
        <p:spPr>
          <a:xfrm>
            <a:off x="73152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Attack surface still there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3"/>
          <p:cNvSpPr/>
          <p:nvPr/>
        </p:nvSpPr>
        <p:spPr>
          <a:xfrm>
            <a:off x="73152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It's just a transport. IDOR, injection, auth flaws and broken access control live underneath the encoding.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4"/>
          <p:cNvSpPr/>
          <p:nvPr/>
        </p:nvSpPr>
        <p:spPr>
          <a:xfrm>
            <a:off x="617220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5"/>
          <p:cNvSpPr/>
          <p:nvPr/>
        </p:nvSpPr>
        <p:spPr>
          <a:xfrm>
            <a:off x="6172200" y="312732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6"/>
          <p:cNvSpPr/>
          <p:nvPr/>
        </p:nvSpPr>
        <p:spPr>
          <a:xfrm>
            <a:off x="640080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Schema = the keys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7"/>
          <p:cNvSpPr/>
          <p:nvPr/>
        </p:nvSpPr>
        <p:spPr>
          <a:xfrm>
            <a:off x="640080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With the .proto you can craft valid requests; without it you reverse-engineer field numbers and types.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8"/>
          <p:cNvSpPr/>
          <p:nvPr/>
        </p:nvSpPr>
        <p:spPr>
          <a:xfrm>
            <a:off x="50292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9"/>
          <p:cNvSpPr/>
          <p:nvPr/>
        </p:nvSpPr>
        <p:spPr>
          <a:xfrm>
            <a:off x="502920" y="4654440"/>
            <a:ext cx="61920" cy="1323720"/>
          </a:xfrm>
          <a:prstGeom prst="rect">
            <a:avLst/>
          </a:prstGeom>
          <a:solidFill>
            <a:srgbClr val="BC8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0"/>
          <p:cNvSpPr/>
          <p:nvPr/>
        </p:nvSpPr>
        <p:spPr>
          <a:xfrm>
            <a:off x="73152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Unknown-field leakage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1"/>
          <p:cNvSpPr/>
          <p:nvPr/>
        </p:nvSpPr>
        <p:spPr>
          <a:xfrm>
            <a:off x="73152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Servers preserve fields you didn't declare — capture diffs can reveal hidden / new API fields.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2"/>
          <p:cNvSpPr/>
          <p:nvPr/>
        </p:nvSpPr>
        <p:spPr>
          <a:xfrm>
            <a:off x="617220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3"/>
          <p:cNvSpPr/>
          <p:nvPr/>
        </p:nvSpPr>
        <p:spPr>
          <a:xfrm>
            <a:off x="6172200" y="4654440"/>
            <a:ext cx="61920" cy="132372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4"/>
          <p:cNvSpPr/>
          <p:nvPr/>
        </p:nvSpPr>
        <p:spPr>
          <a:xfrm>
            <a:off x="640080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Fuzzing &amp; tampering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5"/>
          <p:cNvSpPr/>
          <p:nvPr/>
        </p:nvSpPr>
        <p:spPr>
          <a:xfrm>
            <a:off x="640080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Well-formed mutation requires understanding wire types — malformed bytes just get rejected.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user@proto:~$ exec proto-me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The pentester dilemma 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"/>
          <p:cNvSpPr/>
          <p:nvPr/>
        </p:nvSpPr>
        <p:spPr>
          <a:xfrm>
            <a:off x="502920" y="1417320"/>
            <a:ext cx="54842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You've seen the format end-to-end. Here's the field reality: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3"/>
          <p:cNvSpPr/>
          <p:nvPr/>
        </p:nvSpPr>
        <p:spPr>
          <a:xfrm>
            <a:off x="502920" y="1874520"/>
            <a:ext cx="5484240" cy="7750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4"/>
          <p:cNvSpPr/>
          <p:nvPr/>
        </p:nvSpPr>
        <p:spPr>
          <a:xfrm>
            <a:off x="502920" y="1874520"/>
            <a:ext cx="52560" cy="77508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5"/>
          <p:cNvSpPr/>
          <p:nvPr/>
        </p:nvSpPr>
        <p:spPr>
          <a:xfrm>
            <a:off x="685800" y="1965960"/>
            <a:ext cx="511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Opaque in Burp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685800" y="2267640"/>
            <a:ext cx="52099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You intercept a request. The body is opaque. Reading varints by hand is not the move.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7"/>
          <p:cNvSpPr/>
          <p:nvPr/>
        </p:nvSpPr>
        <p:spPr>
          <a:xfrm>
            <a:off x="502920" y="2788920"/>
            <a:ext cx="5484240" cy="7750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8"/>
          <p:cNvSpPr/>
          <p:nvPr/>
        </p:nvSpPr>
        <p:spPr>
          <a:xfrm>
            <a:off x="502920" y="2788920"/>
            <a:ext cx="52560" cy="77508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9"/>
          <p:cNvSpPr/>
          <p:nvPr/>
        </p:nvSpPr>
        <p:spPr>
          <a:xfrm>
            <a:off x="685800" y="2880360"/>
            <a:ext cx="511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Schema or not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0"/>
          <p:cNvSpPr/>
          <p:nvPr/>
        </p:nvSpPr>
        <p:spPr>
          <a:xfrm>
            <a:off x="685800" y="3182040"/>
            <a:ext cx="52099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With the .proto, current tooling barely helps you edit. Without it, you infer structure tag-by-tag.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1"/>
          <p:cNvSpPr/>
          <p:nvPr/>
        </p:nvSpPr>
        <p:spPr>
          <a:xfrm>
            <a:off x="502920" y="3703320"/>
            <a:ext cx="5484240" cy="7750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2"/>
          <p:cNvSpPr/>
          <p:nvPr/>
        </p:nvSpPr>
        <p:spPr>
          <a:xfrm>
            <a:off x="502920" y="3703320"/>
            <a:ext cx="52560" cy="77508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3"/>
          <p:cNvSpPr/>
          <p:nvPr/>
        </p:nvSpPr>
        <p:spPr>
          <a:xfrm>
            <a:off x="685800" y="3794760"/>
            <a:ext cx="511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Time pressure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4"/>
          <p:cNvSpPr/>
          <p:nvPr/>
        </p:nvSpPr>
        <p:spPr>
          <a:xfrm>
            <a:off x="685800" y="4096440"/>
            <a:ext cx="52099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You have minutes — not hours — to decide if a field is interesting.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5"/>
          <p:cNvSpPr/>
          <p:nvPr/>
        </p:nvSpPr>
        <p:spPr>
          <a:xfrm>
            <a:off x="502920" y="4617720"/>
            <a:ext cx="5484240" cy="77508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6"/>
          <p:cNvSpPr/>
          <p:nvPr/>
        </p:nvSpPr>
        <p:spPr>
          <a:xfrm>
            <a:off x="502920" y="4617720"/>
            <a:ext cx="52560" cy="77508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7"/>
          <p:cNvSpPr/>
          <p:nvPr/>
        </p:nvSpPr>
        <p:spPr>
          <a:xfrm>
            <a:off x="685800" y="4709160"/>
            <a:ext cx="511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Bespoke harness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8"/>
          <p:cNvSpPr/>
          <p:nvPr/>
        </p:nvSpPr>
        <p:spPr>
          <a:xfrm>
            <a:off x="685800" y="5010840"/>
            <a:ext cx="52099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Every engagement, you're rebuilding the same one-off test harness.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9"/>
          <p:cNvSpPr/>
          <p:nvPr/>
        </p:nvSpPr>
        <p:spPr>
          <a:xfrm>
            <a:off x="6263640" y="1783080"/>
            <a:ext cx="5392800" cy="4204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20"/>
          <p:cNvSpPr/>
          <p:nvPr/>
        </p:nvSpPr>
        <p:spPr>
          <a:xfrm>
            <a:off x="6263640" y="1783080"/>
            <a:ext cx="5392800" cy="709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1"/>
          <p:cNvSpPr/>
          <p:nvPr/>
        </p:nvSpPr>
        <p:spPr>
          <a:xfrm>
            <a:off x="6446520" y="1965960"/>
            <a:ext cx="5027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D4BF"/>
                </a:solidFill>
                <a:effectLst/>
                <a:uFillTx/>
                <a:latin typeface="Arial Black"/>
                <a:ea typeface="Arial Black"/>
              </a:rPr>
              <a:t>ENTER PART 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2"/>
          <p:cNvSpPr/>
          <p:nvPr/>
        </p:nvSpPr>
        <p:spPr>
          <a:xfrm>
            <a:off x="6446520" y="2377440"/>
            <a:ext cx="5027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A Burp Suite extension that closes the gap: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3"/>
          <p:cNvSpPr/>
          <p:nvPr/>
        </p:nvSpPr>
        <p:spPr>
          <a:xfrm>
            <a:off x="6446520" y="2926080"/>
            <a:ext cx="455040" cy="4550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4"/>
          <p:cNvSpPr/>
          <p:nvPr/>
        </p:nvSpPr>
        <p:spPr>
          <a:xfrm>
            <a:off x="6446520" y="292608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1117"/>
                </a:solidFill>
                <a:effectLst/>
                <a:uFillTx/>
                <a:latin typeface="Arial Black"/>
                <a:ea typeface="Arial Black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5"/>
          <p:cNvSpPr/>
          <p:nvPr/>
        </p:nvSpPr>
        <p:spPr>
          <a:xfrm>
            <a:off x="7040880" y="2907720"/>
            <a:ext cx="44784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Load .proto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6"/>
          <p:cNvSpPr/>
          <p:nvPr/>
        </p:nvSpPr>
        <p:spPr>
          <a:xfrm>
            <a:off x="7040880" y="3182040"/>
            <a:ext cx="44784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Point the extension at a spec file to craft new, valid requests.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7"/>
          <p:cNvSpPr/>
          <p:nvPr/>
        </p:nvSpPr>
        <p:spPr>
          <a:xfrm>
            <a:off x="6675120" y="3383280"/>
            <a:ext cx="360" cy="292320"/>
          </a:xfrm>
          <a:prstGeom prst="line">
            <a:avLst/>
          </a:prstGeom>
          <a:ln w="190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28"/>
          <p:cNvSpPr/>
          <p:nvPr/>
        </p:nvSpPr>
        <p:spPr>
          <a:xfrm>
            <a:off x="6446520" y="3675960"/>
            <a:ext cx="455040" cy="4550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9"/>
          <p:cNvSpPr/>
          <p:nvPr/>
        </p:nvSpPr>
        <p:spPr>
          <a:xfrm>
            <a:off x="6446520" y="367596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1117"/>
                </a:solidFill>
                <a:effectLst/>
                <a:uFillTx/>
                <a:latin typeface="Arial Black"/>
                <a:ea typeface="Arial Black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0"/>
          <p:cNvSpPr/>
          <p:nvPr/>
        </p:nvSpPr>
        <p:spPr>
          <a:xfrm>
            <a:off x="7040880" y="3657600"/>
            <a:ext cx="44784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Disassemble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1"/>
          <p:cNvSpPr/>
          <p:nvPr/>
        </p:nvSpPr>
        <p:spPr>
          <a:xfrm>
            <a:off x="7040880" y="3931920"/>
            <a:ext cx="44784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Turn raw protobuf into a pseudo-JSON view you can actually read.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2"/>
          <p:cNvSpPr/>
          <p:nvPr/>
        </p:nvSpPr>
        <p:spPr>
          <a:xfrm>
            <a:off x="6675120" y="4132800"/>
            <a:ext cx="360" cy="292680"/>
          </a:xfrm>
          <a:prstGeom prst="line">
            <a:avLst/>
          </a:prstGeom>
          <a:ln w="190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33"/>
          <p:cNvSpPr/>
          <p:nvPr/>
        </p:nvSpPr>
        <p:spPr>
          <a:xfrm>
            <a:off x="6446520" y="4425840"/>
            <a:ext cx="455040" cy="4550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4"/>
          <p:cNvSpPr/>
          <p:nvPr/>
        </p:nvSpPr>
        <p:spPr>
          <a:xfrm>
            <a:off x="6446520" y="442584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1117"/>
                </a:solidFill>
                <a:effectLst/>
                <a:uFillTx/>
                <a:latin typeface="Arial Black"/>
                <a:ea typeface="Arial Black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35"/>
          <p:cNvSpPr/>
          <p:nvPr/>
        </p:nvSpPr>
        <p:spPr>
          <a:xfrm>
            <a:off x="7040880" y="4407480"/>
            <a:ext cx="44784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Edit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36"/>
          <p:cNvSpPr/>
          <p:nvPr/>
        </p:nvSpPr>
        <p:spPr>
          <a:xfrm>
            <a:off x="7040880" y="4681800"/>
            <a:ext cx="44784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Tweak fields in JSON — no manual varint math, no hex surgery.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37"/>
          <p:cNvSpPr/>
          <p:nvPr/>
        </p:nvSpPr>
        <p:spPr>
          <a:xfrm>
            <a:off x="6675120" y="4882680"/>
            <a:ext cx="360" cy="292680"/>
          </a:xfrm>
          <a:prstGeom prst="line">
            <a:avLst/>
          </a:prstGeom>
          <a:ln w="190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38"/>
          <p:cNvSpPr/>
          <p:nvPr/>
        </p:nvSpPr>
        <p:spPr>
          <a:xfrm>
            <a:off x="6446520" y="5175360"/>
            <a:ext cx="455040" cy="4550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39"/>
          <p:cNvSpPr/>
          <p:nvPr/>
        </p:nvSpPr>
        <p:spPr>
          <a:xfrm>
            <a:off x="6446520" y="517536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1117"/>
                </a:solidFill>
                <a:effectLst/>
                <a:uFillTx/>
                <a:latin typeface="Arial Black"/>
                <a:ea typeface="Arial Black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40"/>
          <p:cNvSpPr/>
          <p:nvPr/>
        </p:nvSpPr>
        <p:spPr>
          <a:xfrm>
            <a:off x="7040880" y="5157360"/>
            <a:ext cx="44784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Recompile &amp; ship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41"/>
          <p:cNvSpPr/>
          <p:nvPr/>
        </p:nvSpPr>
        <p:spPr>
          <a:xfrm>
            <a:off x="7040880" y="5431680"/>
            <a:ext cx="44784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Convert JSON back to protobuf bytes and send to the server.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ProtoME: The Problem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A protobuf request in the wild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0" name=""/>
          <p:cNvPicPr/>
          <p:nvPr/>
        </p:nvPicPr>
        <p:blipFill>
          <a:blip r:embed="rId1"/>
          <a:stretch/>
        </p:blipFill>
        <p:spPr>
          <a:xfrm>
            <a:off x="228600" y="2743200"/>
            <a:ext cx="6124320" cy="297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1" name=""/>
          <p:cNvPicPr/>
          <p:nvPr/>
        </p:nvPicPr>
        <p:blipFill>
          <a:blip r:embed="rId2"/>
          <a:stretch/>
        </p:blipFill>
        <p:spPr>
          <a:xfrm>
            <a:off x="6629400" y="2501640"/>
            <a:ext cx="5028120" cy="344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"/>
          <p:cNvSpPr/>
          <p:nvPr/>
        </p:nvSpPr>
        <p:spPr>
          <a:xfrm>
            <a:off x="1828800" y="1947240"/>
            <a:ext cx="26042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Intercepted request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7772400" y="1946880"/>
            <a:ext cx="26042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Current tooling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ProtoME: The Solution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Two modes for two realities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"/>
          <p:cNvSpPr/>
          <p:nvPr/>
        </p:nvSpPr>
        <p:spPr>
          <a:xfrm>
            <a:off x="50292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3"/>
          <p:cNvSpPr/>
          <p:nvPr/>
        </p:nvSpPr>
        <p:spPr>
          <a:xfrm>
            <a:off x="502920" y="160020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4"/>
          <p:cNvSpPr/>
          <p:nvPr/>
        </p:nvSpPr>
        <p:spPr>
          <a:xfrm>
            <a:off x="73152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White-Box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5"/>
          <p:cNvSpPr/>
          <p:nvPr/>
        </p:nvSpPr>
        <p:spPr>
          <a:xfrm>
            <a:off x="73152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You have the .proto. ProtoME compiles it, renders sample requests as pseudo-JSON, and serializes your edits back to wire-valid protobuf.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6"/>
          <p:cNvSpPr/>
          <p:nvPr/>
        </p:nvSpPr>
        <p:spPr>
          <a:xfrm>
            <a:off x="617220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7"/>
          <p:cNvSpPr/>
          <p:nvPr/>
        </p:nvSpPr>
        <p:spPr>
          <a:xfrm>
            <a:off x="6172200" y="1600200"/>
            <a:ext cx="61920" cy="13237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8"/>
          <p:cNvSpPr/>
          <p:nvPr/>
        </p:nvSpPr>
        <p:spPr>
          <a:xfrm>
            <a:off x="640080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Black-Box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9"/>
          <p:cNvSpPr/>
          <p:nvPr/>
        </p:nvSpPr>
        <p:spPr>
          <a:xfrm>
            <a:off x="640080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You don't have the .proto. ProtoME's byte-level parser infers field numbers and wire types, renders pseudo-JSON, recalculates lengths on send.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4" name=""/>
          <p:cNvPicPr/>
          <p:nvPr/>
        </p:nvPicPr>
        <p:blipFill>
          <a:blip r:embed="rId1"/>
          <a:stretch/>
        </p:blipFill>
        <p:spPr>
          <a:xfrm>
            <a:off x="914400" y="3389040"/>
            <a:ext cx="4570920" cy="319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"/>
          <p:cNvPicPr/>
          <p:nvPr/>
        </p:nvPicPr>
        <p:blipFill>
          <a:blip r:embed="rId2"/>
          <a:stretch/>
        </p:blipFill>
        <p:spPr>
          <a:xfrm>
            <a:off x="6858000" y="3200400"/>
            <a:ext cx="3713040" cy="347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ProtoME: High-Level Architecture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How the extension is wired together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2"/>
          <p:cNvSpPr/>
          <p:nvPr/>
        </p:nvSpPr>
        <p:spPr>
          <a:xfrm>
            <a:off x="50292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3"/>
          <p:cNvSpPr/>
          <p:nvPr/>
        </p:nvSpPr>
        <p:spPr>
          <a:xfrm>
            <a:off x="502920" y="160020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4"/>
          <p:cNvSpPr/>
          <p:nvPr/>
        </p:nvSpPr>
        <p:spPr>
          <a:xfrm>
            <a:off x="73152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Burp / Montoya API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5"/>
          <p:cNvSpPr/>
          <p:nvPr/>
        </p:nvSpPr>
        <p:spPr>
          <a:xfrm>
            <a:off x="73152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Extension hooks Repeater, Intruder, Proxy. Adds a ProtoME tab to each request view.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6"/>
          <p:cNvSpPr/>
          <p:nvPr/>
        </p:nvSpPr>
        <p:spPr>
          <a:xfrm>
            <a:off x="617220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7"/>
          <p:cNvSpPr/>
          <p:nvPr/>
        </p:nvSpPr>
        <p:spPr>
          <a:xfrm>
            <a:off x="6172200" y="1600200"/>
            <a:ext cx="61920" cy="13237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8"/>
          <p:cNvSpPr/>
          <p:nvPr/>
        </p:nvSpPr>
        <p:spPr>
          <a:xfrm>
            <a:off x="640080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Schema engine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9"/>
          <p:cNvSpPr/>
          <p:nvPr/>
        </p:nvSpPr>
        <p:spPr>
          <a:xfrm>
            <a:off x="640080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protoc-jar compiles loaded .proto files once. Descriptor set + HashMap maps field numbers ↔ names both ways.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0"/>
          <p:cNvSpPr/>
          <p:nvPr/>
        </p:nvSpPr>
        <p:spPr>
          <a:xfrm>
            <a:off x="50292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1"/>
          <p:cNvSpPr/>
          <p:nvPr/>
        </p:nvSpPr>
        <p:spPr>
          <a:xfrm>
            <a:off x="502920" y="312732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2"/>
          <p:cNvSpPr/>
          <p:nvPr/>
        </p:nvSpPr>
        <p:spPr>
          <a:xfrm>
            <a:off x="73152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Blackbox engine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3"/>
          <p:cNvSpPr/>
          <p:nvPr/>
        </p:nvSpPr>
        <p:spPr>
          <a:xfrm>
            <a:off x="73152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Standalone byte-level parser: walks tag → wire-type → length → payload. Recurses into nested LEN.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4"/>
          <p:cNvSpPr/>
          <p:nvPr/>
        </p:nvSpPr>
        <p:spPr>
          <a:xfrm>
            <a:off x="617220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5"/>
          <p:cNvSpPr/>
          <p:nvPr/>
        </p:nvSpPr>
        <p:spPr>
          <a:xfrm>
            <a:off x="6172200" y="312732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6"/>
          <p:cNvSpPr/>
          <p:nvPr/>
        </p:nvSpPr>
        <p:spPr>
          <a:xfrm>
            <a:off x="640080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JSON bridge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7"/>
          <p:cNvSpPr/>
          <p:nvPr/>
        </p:nvSpPr>
        <p:spPr>
          <a:xfrm>
            <a:off x="640080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Google's JsonFormat (protobuf-java-util) serializes between JSON and protobuf. Custom wrappers for ambiguous wire types.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8"/>
          <p:cNvSpPr/>
          <p:nvPr/>
        </p:nvSpPr>
        <p:spPr>
          <a:xfrm>
            <a:off x="50292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9"/>
          <p:cNvSpPr/>
          <p:nvPr/>
        </p:nvSpPr>
        <p:spPr>
          <a:xfrm>
            <a:off x="502920" y="4654440"/>
            <a:ext cx="61920" cy="1323720"/>
          </a:xfrm>
          <a:prstGeom prst="rect">
            <a:avLst/>
          </a:prstGeom>
          <a:solidFill>
            <a:srgbClr val="BC8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0"/>
          <p:cNvSpPr/>
          <p:nvPr/>
        </p:nvSpPr>
        <p:spPr>
          <a:xfrm>
            <a:off x="73152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Concurrency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1"/>
          <p:cNvSpPr/>
          <p:nvPr/>
        </p:nvSpPr>
        <p:spPr>
          <a:xfrm>
            <a:off x="73152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Java + Montoya thread model keeps the UI responsive while the parser/serializer runs per-request.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ProtoME: Schema-Based Workflow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When you have the .proto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"/>
          <p:cNvSpPr/>
          <p:nvPr/>
        </p:nvSpPr>
        <p:spPr>
          <a:xfrm>
            <a:off x="50292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3"/>
          <p:cNvSpPr/>
          <p:nvPr/>
        </p:nvSpPr>
        <p:spPr>
          <a:xfrm>
            <a:off x="502920" y="160020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4"/>
          <p:cNvSpPr/>
          <p:nvPr/>
        </p:nvSpPr>
        <p:spPr>
          <a:xfrm>
            <a:off x="73152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1. Load .proto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5"/>
          <p:cNvSpPr/>
          <p:nvPr/>
        </p:nvSpPr>
        <p:spPr>
          <a:xfrm>
            <a:off x="73152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Extension calls protoc-jar once at load to build a descriptor set.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6"/>
          <p:cNvSpPr/>
          <p:nvPr/>
        </p:nvSpPr>
        <p:spPr>
          <a:xfrm>
            <a:off x="617220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7"/>
          <p:cNvSpPr/>
          <p:nvPr/>
        </p:nvSpPr>
        <p:spPr>
          <a:xfrm>
            <a:off x="6172200" y="1600200"/>
            <a:ext cx="61920" cy="13237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8"/>
          <p:cNvSpPr/>
          <p:nvPr/>
        </p:nvSpPr>
        <p:spPr>
          <a:xfrm>
            <a:off x="640080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2. Map fields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9"/>
          <p:cNvSpPr/>
          <p:nvPr/>
        </p:nvSpPr>
        <p:spPr>
          <a:xfrm>
            <a:off x="640080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HashMap from compiled descriptor set — maps field numbers ↔ names both ways.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0"/>
          <p:cNvSpPr/>
          <p:nvPr/>
        </p:nvSpPr>
        <p:spPr>
          <a:xfrm>
            <a:off x="50292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1"/>
          <p:cNvSpPr/>
          <p:nvPr/>
        </p:nvSpPr>
        <p:spPr>
          <a:xfrm>
            <a:off x="502920" y="312732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2"/>
          <p:cNvSpPr/>
          <p:nvPr/>
        </p:nvSpPr>
        <p:spPr>
          <a:xfrm>
            <a:off x="73152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3. Generate sample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3"/>
          <p:cNvSpPr/>
          <p:nvPr/>
        </p:nvSpPr>
        <p:spPr>
          <a:xfrm>
            <a:off x="73152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Walks the descriptor field list to produce a sample request populated with dummy data.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4"/>
          <p:cNvSpPr/>
          <p:nvPr/>
        </p:nvSpPr>
        <p:spPr>
          <a:xfrm>
            <a:off x="617220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15"/>
          <p:cNvSpPr/>
          <p:nvPr/>
        </p:nvSpPr>
        <p:spPr>
          <a:xfrm>
            <a:off x="6172200" y="312732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6"/>
          <p:cNvSpPr/>
          <p:nvPr/>
        </p:nvSpPr>
        <p:spPr>
          <a:xfrm>
            <a:off x="640080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4. Edit as JSON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7"/>
          <p:cNvSpPr/>
          <p:nvPr/>
        </p:nvSpPr>
        <p:spPr>
          <a:xfrm>
            <a:off x="640080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Tester edits values in the pseudo-JSON view. Field names, types, and nesting all visible.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8"/>
          <p:cNvSpPr/>
          <p:nvPr/>
        </p:nvSpPr>
        <p:spPr>
          <a:xfrm>
            <a:off x="50292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9"/>
          <p:cNvSpPr/>
          <p:nvPr/>
        </p:nvSpPr>
        <p:spPr>
          <a:xfrm>
            <a:off x="502920" y="4654440"/>
            <a:ext cx="61920" cy="1323720"/>
          </a:xfrm>
          <a:prstGeom prst="rect">
            <a:avLst/>
          </a:prstGeom>
          <a:solidFill>
            <a:srgbClr val="BC8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0"/>
          <p:cNvSpPr/>
          <p:nvPr/>
        </p:nvSpPr>
        <p:spPr>
          <a:xfrm>
            <a:off x="73152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5. Serialize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1"/>
          <p:cNvSpPr/>
          <p:nvPr/>
        </p:nvSpPr>
        <p:spPr>
          <a:xfrm>
            <a:off x="73152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JsonFormat (protobuf-java-util) bridges JSON → protobuf bytes. Request is sent with valid wire encoding.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2"/>
          <p:cNvSpPr/>
          <p:nvPr/>
        </p:nvSpPr>
        <p:spPr>
          <a:xfrm>
            <a:off x="617220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3"/>
          <p:cNvSpPr/>
          <p:nvPr/>
        </p:nvSpPr>
        <p:spPr>
          <a:xfrm>
            <a:off x="6172200" y="4654440"/>
            <a:ext cx="61920" cy="132372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4"/>
          <p:cNvSpPr/>
          <p:nvPr/>
        </p:nvSpPr>
        <p:spPr>
          <a:xfrm>
            <a:off x="640080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Net effect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5"/>
          <p:cNvSpPr/>
          <p:nvPr/>
        </p:nvSpPr>
        <p:spPr>
          <a:xfrm>
            <a:off x="640080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No varint math. No length-prefix bookkeeping. No hex surgery. Edit-and-replay just works.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ProtoME: Blackbox Heuristics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When you don't have the .proto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2"/>
          <p:cNvSpPr/>
          <p:nvPr/>
        </p:nvSpPr>
        <p:spPr>
          <a:xfrm>
            <a:off x="50292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"/>
          <p:cNvSpPr/>
          <p:nvPr/>
        </p:nvSpPr>
        <p:spPr>
          <a:xfrm>
            <a:off x="502920" y="160020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4"/>
          <p:cNvSpPr/>
          <p:nvPr/>
        </p:nvSpPr>
        <p:spPr>
          <a:xfrm>
            <a:off x="73152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Triggered by tester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5"/>
          <p:cNvSpPr/>
          <p:nvPr/>
        </p:nvSpPr>
        <p:spPr>
          <a:xfrm>
            <a:off x="73152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Requests are decoded on-demand via right-click. No pre-load required.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6"/>
          <p:cNvSpPr/>
          <p:nvPr/>
        </p:nvSpPr>
        <p:spPr>
          <a:xfrm>
            <a:off x="617220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7"/>
          <p:cNvSpPr/>
          <p:nvPr/>
        </p:nvSpPr>
        <p:spPr>
          <a:xfrm>
            <a:off x="6172200" y="1600200"/>
            <a:ext cx="61920" cy="13237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8"/>
          <p:cNvSpPr/>
          <p:nvPr/>
        </p:nvSpPr>
        <p:spPr>
          <a:xfrm>
            <a:off x="640080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Byte-level parser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9"/>
          <p:cNvSpPr/>
          <p:nvPr/>
        </p:nvSpPr>
        <p:spPr>
          <a:xfrm>
            <a:off x="640080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BlackboxDecoder walks tags: extracts field number, wire type, and payload length per field.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0"/>
          <p:cNvSpPr/>
          <p:nvPr/>
        </p:nvSpPr>
        <p:spPr>
          <a:xfrm>
            <a:off x="50292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1"/>
          <p:cNvSpPr/>
          <p:nvPr/>
        </p:nvSpPr>
        <p:spPr>
          <a:xfrm>
            <a:off x="502920" y="312732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2"/>
          <p:cNvSpPr/>
          <p:nvPr/>
        </p:nvSpPr>
        <p:spPr>
          <a:xfrm>
            <a:off x="73152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Ambiguous wire types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3"/>
          <p:cNvSpPr/>
          <p:nvPr/>
        </p:nvSpPr>
        <p:spPr>
          <a:xfrm>
            <a:off x="73152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Wire types 1 (I64) and 5 (I32) get type:value wrappers — tester picks float vs fixed.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4"/>
          <p:cNvSpPr/>
          <p:nvPr/>
        </p:nvSpPr>
        <p:spPr>
          <a:xfrm>
            <a:off x="617220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5"/>
          <p:cNvSpPr/>
          <p:nvPr/>
        </p:nvSpPr>
        <p:spPr>
          <a:xfrm>
            <a:off x="6172200" y="312732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6"/>
          <p:cNvSpPr/>
          <p:nvPr/>
        </p:nvSpPr>
        <p:spPr>
          <a:xfrm>
            <a:off x="640080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Recursive parsing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7"/>
          <p:cNvSpPr/>
          <p:nvPr/>
        </p:nvSpPr>
        <p:spPr>
          <a:xfrm>
            <a:off x="640080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LEN payloads that look like nested messages are decoded recursively.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8"/>
          <p:cNvSpPr/>
          <p:nvPr/>
        </p:nvSpPr>
        <p:spPr>
          <a:xfrm>
            <a:off x="50292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9"/>
          <p:cNvSpPr/>
          <p:nvPr/>
        </p:nvSpPr>
        <p:spPr>
          <a:xfrm>
            <a:off x="502920" y="4654440"/>
            <a:ext cx="61920" cy="1323720"/>
          </a:xfrm>
          <a:prstGeom prst="rect">
            <a:avLst/>
          </a:prstGeom>
          <a:solidFill>
            <a:srgbClr val="BC8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0"/>
          <p:cNvSpPr/>
          <p:nvPr/>
        </p:nvSpPr>
        <p:spPr>
          <a:xfrm>
            <a:off x="73152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Editable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21"/>
          <p:cNvSpPr/>
          <p:nvPr/>
        </p:nvSpPr>
        <p:spPr>
          <a:xfrm>
            <a:off x="73152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Tester edits the inferred JSON. Payload length is recalculated on serialization.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2"/>
          <p:cNvSpPr/>
          <p:nvPr/>
        </p:nvSpPr>
        <p:spPr>
          <a:xfrm>
            <a:off x="617220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3"/>
          <p:cNvSpPr/>
          <p:nvPr/>
        </p:nvSpPr>
        <p:spPr>
          <a:xfrm>
            <a:off x="6172200" y="4654440"/>
            <a:ext cx="61920" cy="132372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4"/>
          <p:cNvSpPr/>
          <p:nvPr/>
        </p:nvSpPr>
        <p:spPr>
          <a:xfrm>
            <a:off x="640080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Re-serialize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5"/>
          <p:cNvSpPr/>
          <p:nvPr/>
        </p:nvSpPr>
        <p:spPr>
          <a:xfrm>
            <a:off x="640080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Output is a wire-valid protobuf byte stream — sent back through Burp like any other request.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ProtoME: Blackbox in Practice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A schemaless decode, walked through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"/>
          <p:cNvSpPr/>
          <p:nvPr/>
        </p:nvSpPr>
        <p:spPr>
          <a:xfrm>
            <a:off x="50292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3"/>
          <p:cNvSpPr/>
          <p:nvPr/>
        </p:nvSpPr>
        <p:spPr>
          <a:xfrm>
            <a:off x="502920" y="160020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4"/>
          <p:cNvSpPr/>
          <p:nvPr/>
        </p:nvSpPr>
        <p:spPr>
          <a:xfrm>
            <a:off x="73152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Raw bytes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5"/>
          <p:cNvSpPr/>
          <p:nvPr/>
        </p:nvSpPr>
        <p:spPr>
          <a:xfrm>
            <a:off x="73152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08 01 12 05 41 6c 69 63 65 18 01 — the same 11 bytes from the 101. Opaque to a normal proxy.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6"/>
          <p:cNvSpPr/>
          <p:nvPr/>
        </p:nvSpPr>
        <p:spPr>
          <a:xfrm>
            <a:off x="617220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7"/>
          <p:cNvSpPr/>
          <p:nvPr/>
        </p:nvSpPr>
        <p:spPr>
          <a:xfrm>
            <a:off x="6172200" y="1600200"/>
            <a:ext cx="61920" cy="13237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8"/>
          <p:cNvSpPr/>
          <p:nvPr/>
        </p:nvSpPr>
        <p:spPr>
          <a:xfrm>
            <a:off x="640080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ProtoME output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9"/>
          <p:cNvSpPr/>
          <p:nvPr/>
        </p:nvSpPr>
        <p:spPr>
          <a:xfrm>
            <a:off x="640080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{ "field_1 (varint)": 1, "field_2 (LEN, string)": "Alice", "field_3 (varint)": 1 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0"/>
          <p:cNvSpPr/>
          <p:nvPr/>
        </p:nvSpPr>
        <p:spPr>
          <a:xfrm>
            <a:off x="50292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11"/>
          <p:cNvSpPr/>
          <p:nvPr/>
        </p:nvSpPr>
        <p:spPr>
          <a:xfrm>
            <a:off x="502920" y="312732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2"/>
          <p:cNvSpPr/>
          <p:nvPr/>
        </p:nvSpPr>
        <p:spPr>
          <a:xfrm>
            <a:off x="73152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Tag walking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3"/>
          <p:cNvSpPr/>
          <p:nvPr/>
        </p:nvSpPr>
        <p:spPr>
          <a:xfrm>
            <a:off x="73152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Each byte stream tag → field number + wire type. No schema needed.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14"/>
          <p:cNvSpPr/>
          <p:nvPr/>
        </p:nvSpPr>
        <p:spPr>
          <a:xfrm>
            <a:off x="617220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15"/>
          <p:cNvSpPr/>
          <p:nvPr/>
        </p:nvSpPr>
        <p:spPr>
          <a:xfrm>
            <a:off x="6172200" y="312732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6"/>
          <p:cNvSpPr/>
          <p:nvPr/>
        </p:nvSpPr>
        <p:spPr>
          <a:xfrm>
            <a:off x="640080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String detection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7"/>
          <p:cNvSpPr/>
          <p:nvPr/>
        </p:nvSpPr>
        <p:spPr>
          <a:xfrm>
            <a:off x="640080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Length-prefixed bytes auto-decoded to string when ASCII-safe.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18"/>
          <p:cNvSpPr/>
          <p:nvPr/>
        </p:nvSpPr>
        <p:spPr>
          <a:xfrm>
            <a:off x="50292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19"/>
          <p:cNvSpPr/>
          <p:nvPr/>
        </p:nvSpPr>
        <p:spPr>
          <a:xfrm>
            <a:off x="502920" y="4654440"/>
            <a:ext cx="61920" cy="1323720"/>
          </a:xfrm>
          <a:prstGeom prst="rect">
            <a:avLst/>
          </a:prstGeom>
          <a:solidFill>
            <a:srgbClr val="BC8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0"/>
          <p:cNvSpPr/>
          <p:nvPr/>
        </p:nvSpPr>
        <p:spPr>
          <a:xfrm>
            <a:off x="73152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Wire-type wrappers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21"/>
          <p:cNvSpPr/>
          <p:nvPr/>
        </p:nvSpPr>
        <p:spPr>
          <a:xfrm>
            <a:off x="73152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Ambiguous wire types (1, 5) wrapped with type:value so tester picks the interpretation.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ProtoME: Key Technical Decisions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Choices that shape the extension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2"/>
          <p:cNvSpPr/>
          <p:nvPr/>
        </p:nvSpPr>
        <p:spPr>
          <a:xfrm>
            <a:off x="50292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3"/>
          <p:cNvSpPr/>
          <p:nvPr/>
        </p:nvSpPr>
        <p:spPr>
          <a:xfrm>
            <a:off x="502920" y="160020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4"/>
          <p:cNvSpPr/>
          <p:nvPr/>
        </p:nvSpPr>
        <p:spPr>
          <a:xfrm>
            <a:off x="73152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Parallel code stacks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5"/>
          <p:cNvSpPr/>
          <p:nvPr/>
        </p:nvSpPr>
        <p:spPr>
          <a:xfrm>
            <a:off x="73152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Whitebox and blackbox flows are independent — neither blocks the other if one fails.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6"/>
          <p:cNvSpPr/>
          <p:nvPr/>
        </p:nvSpPr>
        <p:spPr>
          <a:xfrm>
            <a:off x="617220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7"/>
          <p:cNvSpPr/>
          <p:nvPr/>
        </p:nvSpPr>
        <p:spPr>
          <a:xfrm>
            <a:off x="6172200" y="1600200"/>
            <a:ext cx="61920" cy="13237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8"/>
          <p:cNvSpPr/>
          <p:nvPr/>
        </p:nvSpPr>
        <p:spPr>
          <a:xfrm>
            <a:off x="640080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Fail-open requests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9"/>
          <p:cNvSpPr/>
          <p:nvPr/>
        </p:nvSpPr>
        <p:spPr>
          <a:xfrm>
            <a:off x="640080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If decoding fails, the original bytes still pass through. Dynamic testing keeps moving.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10"/>
          <p:cNvSpPr/>
          <p:nvPr/>
        </p:nvSpPr>
        <p:spPr>
          <a:xfrm>
            <a:off x="50292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11"/>
          <p:cNvSpPr/>
          <p:nvPr/>
        </p:nvSpPr>
        <p:spPr>
          <a:xfrm>
            <a:off x="502920" y="312732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12"/>
          <p:cNvSpPr/>
          <p:nvPr/>
        </p:nvSpPr>
        <p:spPr>
          <a:xfrm>
            <a:off x="73152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Optional gRPC framing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3"/>
          <p:cNvSpPr/>
          <p:nvPr/>
        </p:nvSpPr>
        <p:spPr>
          <a:xfrm>
            <a:off x="73152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Toggle the 5-byte gRPC prefix on/off per request. Auto-detected when possible.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4"/>
          <p:cNvSpPr/>
          <p:nvPr/>
        </p:nvSpPr>
        <p:spPr>
          <a:xfrm>
            <a:off x="617220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5"/>
          <p:cNvSpPr/>
          <p:nvPr/>
        </p:nvSpPr>
        <p:spPr>
          <a:xfrm>
            <a:off x="6172200" y="312732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6"/>
          <p:cNvSpPr/>
          <p:nvPr/>
        </p:nvSpPr>
        <p:spPr>
          <a:xfrm>
            <a:off x="640080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Structured errors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7"/>
          <p:cNvSpPr/>
          <p:nvPr/>
        </p:nvSpPr>
        <p:spPr>
          <a:xfrm>
            <a:off x="640080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Decoder errors surface in the UI with field offsets, not silent failures.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8"/>
          <p:cNvSpPr/>
          <p:nvPr/>
        </p:nvSpPr>
        <p:spPr>
          <a:xfrm>
            <a:off x="50292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9"/>
          <p:cNvSpPr/>
          <p:nvPr/>
        </p:nvSpPr>
        <p:spPr>
          <a:xfrm>
            <a:off x="502920" y="4654440"/>
            <a:ext cx="61920" cy="1323720"/>
          </a:xfrm>
          <a:prstGeom prst="rect">
            <a:avLst/>
          </a:prstGeom>
          <a:solidFill>
            <a:srgbClr val="BC8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20"/>
          <p:cNvSpPr/>
          <p:nvPr/>
        </p:nvSpPr>
        <p:spPr>
          <a:xfrm>
            <a:off x="73152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Java + Montoya API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21"/>
          <p:cNvSpPr/>
          <p:nvPr/>
        </p:nvSpPr>
        <p:spPr>
          <a:xfrm>
            <a:off x="73152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Performance for byte-level parsing; clean concurrency for the Burp UI.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22"/>
          <p:cNvSpPr/>
          <p:nvPr/>
        </p:nvSpPr>
        <p:spPr>
          <a:xfrm>
            <a:off x="617220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3"/>
          <p:cNvSpPr/>
          <p:nvPr/>
        </p:nvSpPr>
        <p:spPr>
          <a:xfrm>
            <a:off x="6172200" y="4654440"/>
            <a:ext cx="61920" cy="132372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4"/>
          <p:cNvSpPr/>
          <p:nvPr/>
        </p:nvSpPr>
        <p:spPr>
          <a:xfrm>
            <a:off x="640080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Type/value wrappers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5"/>
          <p:cNvSpPr/>
          <p:nvPr/>
        </p:nvSpPr>
        <p:spPr>
          <a:xfrm>
            <a:off x="640080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Disambiguates 1- and 5-wire-type payloads. Eases test-case generation.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ProtoME: Quality of Life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What makes it pleasant to use today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2"/>
          <p:cNvSpPr/>
          <p:nvPr/>
        </p:nvSpPr>
        <p:spPr>
          <a:xfrm>
            <a:off x="50292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3"/>
          <p:cNvSpPr/>
          <p:nvPr/>
        </p:nvSpPr>
        <p:spPr>
          <a:xfrm>
            <a:off x="502920" y="160020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4"/>
          <p:cNvSpPr/>
          <p:nvPr/>
        </p:nvSpPr>
        <p:spPr>
          <a:xfrm>
            <a:off x="73152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One-click .proto load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5"/>
          <p:cNvSpPr/>
          <p:nvPr/>
        </p:nvSpPr>
        <p:spPr>
          <a:xfrm>
            <a:off x="73152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Load any .proto file from the Burp UI. No restart, no config files.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6"/>
          <p:cNvSpPr/>
          <p:nvPr/>
        </p:nvSpPr>
        <p:spPr>
          <a:xfrm>
            <a:off x="617220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7"/>
          <p:cNvSpPr/>
          <p:nvPr/>
        </p:nvSpPr>
        <p:spPr>
          <a:xfrm>
            <a:off x="6172200" y="1600200"/>
            <a:ext cx="61920" cy="13237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8"/>
          <p:cNvSpPr/>
          <p:nvPr/>
        </p:nvSpPr>
        <p:spPr>
          <a:xfrm>
            <a:off x="640080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On-demand blackbox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9"/>
          <p:cNvSpPr/>
          <p:nvPr/>
        </p:nvSpPr>
        <p:spPr>
          <a:xfrm>
            <a:off x="640080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Right-click any request to decode without schema. No pre-config required.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0"/>
          <p:cNvSpPr/>
          <p:nvPr/>
        </p:nvSpPr>
        <p:spPr>
          <a:xfrm>
            <a:off x="50292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11"/>
          <p:cNvSpPr/>
          <p:nvPr/>
        </p:nvSpPr>
        <p:spPr>
          <a:xfrm>
            <a:off x="502920" y="312732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2"/>
          <p:cNvSpPr/>
          <p:nvPr/>
        </p:nvSpPr>
        <p:spPr>
          <a:xfrm>
            <a:off x="73152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Request organization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13"/>
          <p:cNvSpPr/>
          <p:nvPr/>
        </p:nvSpPr>
        <p:spPr>
          <a:xfrm>
            <a:off x="73152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Track which endpoints you've tested across an engagement.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14"/>
          <p:cNvSpPr/>
          <p:nvPr/>
        </p:nvSpPr>
        <p:spPr>
          <a:xfrm>
            <a:off x="617220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15"/>
          <p:cNvSpPr/>
          <p:nvPr/>
        </p:nvSpPr>
        <p:spPr>
          <a:xfrm>
            <a:off x="6172200" y="312732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6"/>
          <p:cNvSpPr/>
          <p:nvPr/>
        </p:nvSpPr>
        <p:spPr>
          <a:xfrm>
            <a:off x="640080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Bug-bounty enablement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7"/>
          <p:cNvSpPr/>
          <p:nvPr/>
        </p:nvSpPr>
        <p:spPr>
          <a:xfrm>
            <a:off x="640080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Lowers the bar for hunters to engage with protobuf-backed targets.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18"/>
          <p:cNvSpPr/>
          <p:nvPr/>
        </p:nvSpPr>
        <p:spPr>
          <a:xfrm>
            <a:off x="50292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19"/>
          <p:cNvSpPr/>
          <p:nvPr/>
        </p:nvSpPr>
        <p:spPr>
          <a:xfrm>
            <a:off x="502920" y="4654440"/>
            <a:ext cx="61920" cy="1323720"/>
          </a:xfrm>
          <a:prstGeom prst="rect">
            <a:avLst/>
          </a:prstGeom>
          <a:solidFill>
            <a:srgbClr val="BC8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20"/>
          <p:cNvSpPr/>
          <p:nvPr/>
        </p:nvSpPr>
        <p:spPr>
          <a:xfrm>
            <a:off x="73152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Byte-level mutation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21"/>
          <p:cNvSpPr/>
          <p:nvPr/>
        </p:nvSpPr>
        <p:spPr>
          <a:xfrm>
            <a:off x="73152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Hand-craft payloads for parser-inconsistency or fuzzing scenarios.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22"/>
          <p:cNvSpPr/>
          <p:nvPr/>
        </p:nvSpPr>
        <p:spPr>
          <a:xfrm>
            <a:off x="617220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23"/>
          <p:cNvSpPr/>
          <p:nvPr/>
        </p:nvSpPr>
        <p:spPr>
          <a:xfrm>
            <a:off x="6172200" y="4654440"/>
            <a:ext cx="61920" cy="132372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24"/>
          <p:cNvSpPr/>
          <p:nvPr/>
        </p:nvSpPr>
        <p:spPr>
          <a:xfrm>
            <a:off x="640080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Coverage tracking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25"/>
          <p:cNvSpPr/>
          <p:nvPr/>
        </p:nvSpPr>
        <p:spPr>
          <a:xfrm>
            <a:off x="640080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Surface parser inconsistencies — same input, two implementations, different output.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Text 0"/>
          <p:cNvSpPr/>
          <p:nvPr/>
        </p:nvSpPr>
        <p:spPr>
          <a:xfrm>
            <a:off x="502920" y="292680"/>
            <a:ext cx="10970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ProtoME: Results &amp; Impact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1"/>
          <p:cNvSpPr/>
          <p:nvPr/>
        </p:nvSpPr>
        <p:spPr>
          <a:xfrm>
            <a:off x="457200" y="567000"/>
            <a:ext cx="11244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What the extension has unlocked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2"/>
          <p:cNvSpPr/>
          <p:nvPr/>
        </p:nvSpPr>
        <p:spPr>
          <a:xfrm>
            <a:off x="50292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3"/>
          <p:cNvSpPr/>
          <p:nvPr/>
        </p:nvSpPr>
        <p:spPr>
          <a:xfrm>
            <a:off x="502920" y="160020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4"/>
          <p:cNvSpPr/>
          <p:nvPr/>
        </p:nvSpPr>
        <p:spPr>
          <a:xfrm>
            <a:off x="73152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Junior consultant lift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5"/>
          <p:cNvSpPr/>
          <p:nvPr/>
        </p:nvSpPr>
        <p:spPr>
          <a:xfrm>
            <a:off x="73152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Staff junior consultants on engagements that previously required protocol-analysis skill.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6"/>
          <p:cNvSpPr/>
          <p:nvPr/>
        </p:nvSpPr>
        <p:spPr>
          <a:xfrm>
            <a:off x="6172200" y="160020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7"/>
          <p:cNvSpPr/>
          <p:nvPr/>
        </p:nvSpPr>
        <p:spPr>
          <a:xfrm>
            <a:off x="6172200" y="1600200"/>
            <a:ext cx="61920" cy="1323720"/>
          </a:xfrm>
          <a:prstGeom prst="rect">
            <a:avLst/>
          </a:prstGeom>
          <a:solidFill>
            <a:srgbClr val="E3B3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8"/>
          <p:cNvSpPr/>
          <p:nvPr/>
        </p:nvSpPr>
        <p:spPr>
          <a:xfrm>
            <a:off x="6400800" y="171900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No more obscurity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9"/>
          <p:cNvSpPr/>
          <p:nvPr/>
        </p:nvSpPr>
        <p:spPr>
          <a:xfrm>
            <a:off x="6400800" y="210312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Removes protobuf security-through-obscurity — pentesters can actually see what's on the wire.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0"/>
          <p:cNvSpPr/>
          <p:nvPr/>
        </p:nvSpPr>
        <p:spPr>
          <a:xfrm>
            <a:off x="50292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11"/>
          <p:cNvSpPr/>
          <p:nvPr/>
        </p:nvSpPr>
        <p:spPr>
          <a:xfrm>
            <a:off x="502920" y="3127320"/>
            <a:ext cx="61920" cy="1323720"/>
          </a:xfrm>
          <a:prstGeom prst="rect">
            <a:avLst/>
          </a:prstGeom>
          <a:solidFill>
            <a:srgbClr val="F851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2"/>
          <p:cNvSpPr/>
          <p:nvPr/>
        </p:nvSpPr>
        <p:spPr>
          <a:xfrm>
            <a:off x="73152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No bespoke harness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3"/>
          <p:cNvSpPr/>
          <p:nvPr/>
        </p:nvSpPr>
        <p:spPr>
          <a:xfrm>
            <a:off x="73152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Removes the need to build a one-off test harness for every protobuf endpoint.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4"/>
          <p:cNvSpPr/>
          <p:nvPr/>
        </p:nvSpPr>
        <p:spPr>
          <a:xfrm>
            <a:off x="6172200" y="312732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15"/>
          <p:cNvSpPr/>
          <p:nvPr/>
        </p:nvSpPr>
        <p:spPr>
          <a:xfrm>
            <a:off x="6172200" y="3127320"/>
            <a:ext cx="61920" cy="132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6"/>
          <p:cNvSpPr/>
          <p:nvPr/>
        </p:nvSpPr>
        <p:spPr>
          <a:xfrm>
            <a:off x="6400800" y="324612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Time to first mutation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7"/>
          <p:cNvSpPr/>
          <p:nvPr/>
        </p:nvSpPr>
        <p:spPr>
          <a:xfrm>
            <a:off x="6400800" y="363024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Collapses first-request-to-first-mutation time from hours (manual varint work) to minutes.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8"/>
          <p:cNvSpPr/>
          <p:nvPr/>
        </p:nvSpPr>
        <p:spPr>
          <a:xfrm>
            <a:off x="50292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19"/>
          <p:cNvSpPr/>
          <p:nvPr/>
        </p:nvSpPr>
        <p:spPr>
          <a:xfrm>
            <a:off x="502920" y="4654440"/>
            <a:ext cx="61920" cy="1323720"/>
          </a:xfrm>
          <a:prstGeom prst="rect">
            <a:avLst/>
          </a:prstGeom>
          <a:solidFill>
            <a:srgbClr val="BC8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20"/>
          <p:cNvSpPr/>
          <p:nvPr/>
        </p:nvSpPr>
        <p:spPr>
          <a:xfrm>
            <a:off x="73152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Coverage win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21"/>
          <p:cNvSpPr/>
          <p:nvPr/>
        </p:nvSpPr>
        <p:spPr>
          <a:xfrm>
            <a:off x="73152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Engagements that skipped protobuf endpoints under time pressure now get them tested.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22"/>
          <p:cNvSpPr/>
          <p:nvPr/>
        </p:nvSpPr>
        <p:spPr>
          <a:xfrm>
            <a:off x="6172200" y="4654440"/>
            <a:ext cx="5484240" cy="132372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23"/>
          <p:cNvSpPr/>
          <p:nvPr/>
        </p:nvSpPr>
        <p:spPr>
          <a:xfrm>
            <a:off x="6172200" y="4654440"/>
            <a:ext cx="61920" cy="132372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24"/>
          <p:cNvSpPr/>
          <p:nvPr/>
        </p:nvSpPr>
        <p:spPr>
          <a:xfrm>
            <a:off x="6400800" y="4773240"/>
            <a:ext cx="5072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Bug bounty enablement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25"/>
          <p:cNvSpPr/>
          <p:nvPr/>
        </p:nvSpPr>
        <p:spPr>
          <a:xfrm>
            <a:off x="6400800" y="5157360"/>
            <a:ext cx="50727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Bug-bounty hunters can engage with protobuf targets that were previously out of reach.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0"/>
          <p:cNvSpPr/>
          <p:nvPr/>
        </p:nvSpPr>
        <p:spPr>
          <a:xfrm>
            <a:off x="0" y="822960"/>
            <a:ext cx="162360" cy="10951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1"/>
          <p:cNvSpPr/>
          <p:nvPr/>
        </p:nvSpPr>
        <p:spPr>
          <a:xfrm>
            <a:off x="502920" y="868680"/>
            <a:ext cx="109706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References &amp; next steps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2"/>
          <p:cNvSpPr/>
          <p:nvPr/>
        </p:nvSpPr>
        <p:spPr>
          <a:xfrm>
            <a:off x="502920" y="1920240"/>
            <a:ext cx="11153520" cy="60120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3"/>
          <p:cNvSpPr/>
          <p:nvPr/>
        </p:nvSpPr>
        <p:spPr>
          <a:xfrm>
            <a:off x="502920" y="1920240"/>
            <a:ext cx="52560" cy="60120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4"/>
          <p:cNvSpPr/>
          <p:nvPr/>
        </p:nvSpPr>
        <p:spPr>
          <a:xfrm>
            <a:off x="685800" y="1920240"/>
            <a:ext cx="27410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Official docs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5"/>
          <p:cNvSpPr/>
          <p:nvPr/>
        </p:nvSpPr>
        <p:spPr>
          <a:xfrm>
            <a:off x="3566160" y="1920240"/>
            <a:ext cx="420408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protobuf.dev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6"/>
          <p:cNvSpPr/>
          <p:nvPr/>
        </p:nvSpPr>
        <p:spPr>
          <a:xfrm>
            <a:off x="7863840" y="1920240"/>
            <a:ext cx="36554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Language guides, encoding spec, history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7"/>
          <p:cNvSpPr/>
          <p:nvPr/>
        </p:nvSpPr>
        <p:spPr>
          <a:xfrm>
            <a:off x="502920" y="2633400"/>
            <a:ext cx="11153520" cy="60120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8"/>
          <p:cNvSpPr/>
          <p:nvPr/>
        </p:nvSpPr>
        <p:spPr>
          <a:xfrm>
            <a:off x="502920" y="2633400"/>
            <a:ext cx="52560" cy="60120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9"/>
          <p:cNvSpPr/>
          <p:nvPr/>
        </p:nvSpPr>
        <p:spPr>
          <a:xfrm>
            <a:off x="685800" y="2633400"/>
            <a:ext cx="27410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Encoding deep-dive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0"/>
          <p:cNvSpPr/>
          <p:nvPr/>
        </p:nvSpPr>
        <p:spPr>
          <a:xfrm>
            <a:off x="3566160" y="2633400"/>
            <a:ext cx="420408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protobuf.dev/programming-guides/encoding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1"/>
          <p:cNvSpPr/>
          <p:nvPr/>
        </p:nvSpPr>
        <p:spPr>
          <a:xfrm>
            <a:off x="7863840" y="2633400"/>
            <a:ext cx="36554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Varints, wire types, ZigZag in detail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12"/>
          <p:cNvSpPr/>
          <p:nvPr/>
        </p:nvSpPr>
        <p:spPr>
          <a:xfrm>
            <a:off x="502920" y="3346560"/>
            <a:ext cx="11153520" cy="60120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13"/>
          <p:cNvSpPr/>
          <p:nvPr/>
        </p:nvSpPr>
        <p:spPr>
          <a:xfrm>
            <a:off x="502920" y="3346560"/>
            <a:ext cx="52560" cy="60120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4"/>
          <p:cNvSpPr/>
          <p:nvPr/>
        </p:nvSpPr>
        <p:spPr>
          <a:xfrm>
            <a:off x="685800" y="3346560"/>
            <a:ext cx="27410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gRPC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5"/>
          <p:cNvSpPr/>
          <p:nvPr/>
        </p:nvSpPr>
        <p:spPr>
          <a:xfrm>
            <a:off x="3566160" y="3346560"/>
            <a:ext cx="420408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grpc.io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6"/>
          <p:cNvSpPr/>
          <p:nvPr/>
        </p:nvSpPr>
        <p:spPr>
          <a:xfrm>
            <a:off x="7863840" y="3346560"/>
            <a:ext cx="36554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The RPC framework that carries most protobuf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7"/>
          <p:cNvSpPr/>
          <p:nvPr/>
        </p:nvSpPr>
        <p:spPr>
          <a:xfrm>
            <a:off x="502920" y="4060080"/>
            <a:ext cx="11153520" cy="60120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18"/>
          <p:cNvSpPr/>
          <p:nvPr/>
        </p:nvSpPr>
        <p:spPr>
          <a:xfrm>
            <a:off x="502920" y="4060080"/>
            <a:ext cx="52560" cy="60120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19"/>
          <p:cNvSpPr/>
          <p:nvPr/>
        </p:nvSpPr>
        <p:spPr>
          <a:xfrm>
            <a:off x="685800" y="4060080"/>
            <a:ext cx="27410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Source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20"/>
          <p:cNvSpPr/>
          <p:nvPr/>
        </p:nvSpPr>
        <p:spPr>
          <a:xfrm>
            <a:off x="3566160" y="4060080"/>
            <a:ext cx="420408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github.com/protocolbuffers/protobuf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21"/>
          <p:cNvSpPr/>
          <p:nvPr/>
        </p:nvSpPr>
        <p:spPr>
          <a:xfrm>
            <a:off x="7863840" y="4060080"/>
            <a:ext cx="36554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protoc compiler &amp; runtimes (BSD)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22"/>
          <p:cNvSpPr/>
          <p:nvPr/>
        </p:nvSpPr>
        <p:spPr>
          <a:xfrm>
            <a:off x="502920" y="4773240"/>
            <a:ext cx="11153520" cy="601200"/>
          </a:xfrm>
          <a:prstGeom prst="rect">
            <a:avLst/>
          </a:prstGeom>
          <a:solidFill>
            <a:srgbClr val="1F2630"/>
          </a:solidFill>
          <a:ln w="12700">
            <a:solidFill>
              <a:srgbClr val="30363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23"/>
          <p:cNvSpPr/>
          <p:nvPr/>
        </p:nvSpPr>
        <p:spPr>
          <a:xfrm>
            <a:off x="502920" y="4773240"/>
            <a:ext cx="52560" cy="60120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24"/>
          <p:cNvSpPr/>
          <p:nvPr/>
        </p:nvSpPr>
        <p:spPr>
          <a:xfrm>
            <a:off x="685800" y="4773240"/>
            <a:ext cx="27410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alibri"/>
                <a:ea typeface="Calibri"/>
              </a:rPr>
              <a:t>ProtoME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25"/>
          <p:cNvSpPr/>
          <p:nvPr/>
        </p:nvSpPr>
        <p:spPr>
          <a:xfrm>
            <a:off x="3566160" y="4773240"/>
            <a:ext cx="420408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github.com/twisted007/ProtoME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26"/>
          <p:cNvSpPr/>
          <p:nvPr/>
        </p:nvSpPr>
        <p:spPr>
          <a:xfrm>
            <a:off x="7863840" y="4773240"/>
            <a:ext cx="36554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The Burp extension demoed today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27"/>
          <p:cNvSpPr/>
          <p:nvPr/>
        </p:nvSpPr>
        <p:spPr>
          <a:xfrm>
            <a:off x="502920" y="5760720"/>
            <a:ext cx="109706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Questions?  -&gt;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hacker-squad"/>
          <p:cNvPicPr/>
          <p:nvPr/>
        </p:nvPicPr>
        <p:blipFill>
          <a:blip r:embed="rId1"/>
          <a:stretch/>
        </p:blipFill>
        <p:spPr>
          <a:xfrm>
            <a:off x="7595280" y="429120"/>
            <a:ext cx="3996000" cy="599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9" name="ThankYou"/>
          <p:cNvSpPr/>
          <p:nvPr/>
        </p:nvSpPr>
        <p:spPr>
          <a:xfrm>
            <a:off x="685800" y="2199960"/>
            <a:ext cx="639936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6000" b="1" u="none" strike="noStrike">
                <a:solidFill>
                  <a:srgbClr val="E6EDF3"/>
                </a:solidFill>
                <a:effectLst/>
                <a:uFillTx/>
                <a:latin typeface="Arial Black"/>
                <a:ea typeface="Arial Black"/>
              </a:rPr>
              <a:t>THANK </a:t>
            </a:r>
            <a:r>
              <a:rPr lang="en-US" sz="6000" b="1" u="none" strike="noStrike">
                <a:solidFill>
                  <a:srgbClr val="2DD4BF"/>
                </a:solidFill>
                <a:effectLst/>
                <a:uFillTx/>
                <a:latin typeface="Arial Black"/>
                <a:ea typeface="Arial Black"/>
              </a:rPr>
              <a:t>YOU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ubtitle"/>
          <p:cNvSpPr/>
          <p:nvPr/>
        </p:nvSpPr>
        <p:spPr>
          <a:xfrm>
            <a:off x="699840" y="3949920"/>
            <a:ext cx="6399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Protobuf Traffic — a field guide to Protocol Buffers on the wire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6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@twisted007  ·  github.com/twisted007/ProtoME  ·  DC415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LibreOffice/26.2.1.2$Linux_X86_64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2026-06-04T20:38:55Z</dcterms:created>
  <dc:creator>Protobuf 101</dc:creator>
  <dc:description/>
  <dc:language>en-US</dc:language>
  <cp:lastModifiedBy/>
  <dcterms:modified xsi:type="dcterms:W3CDTF">2026-06-11T17:58:44Z</dcterms:modified>
  <cp:revision>12</cp:revision>
  <dc:subject>PptxGenJS Presentation</dc:subject>
  <dc:title>Protobuf Traffic 101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